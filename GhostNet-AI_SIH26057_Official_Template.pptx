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5488" y="2057400"/>
            <a:ext cx="571500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32E46"/>
                </a:solidFill>
                <a:latin typeface="Georgia"/>
              </a:rPr>
              <a:t>GHOSTNET-AI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" y="2615184"/>
            <a:ext cx="5623560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224B76"/>
                </a:solidFill>
                <a:latin typeface="Aptos"/>
              </a:rPr>
              <a:t>Side-Scan Sonar Intelligence for Marine Debris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" y="2971800"/>
            <a:ext cx="571500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6636F"/>
                </a:solidFill>
                <a:latin typeface="Aptos"/>
              </a:rPr>
              <a:t>DETECT  •  VERIFY  •  GEOLOCATE  •  PRIORITIZE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" y="3401568"/>
            <a:ext cx="58978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24B76"/>
                </a:solidFill>
                <a:latin typeface="Aptos"/>
              </a:rPr>
              <a:t>Problem Statement ID:  </a:t>
            </a:r>
            <a:r>
              <a:rPr sz="1200" b="0" i="0">
                <a:solidFill>
                  <a:srgbClr val="1B242C"/>
                </a:solidFill>
                <a:latin typeface="Aptos"/>
              </a:rPr>
              <a:t>SIH26057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3776" y="3854196"/>
            <a:ext cx="58978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24B76"/>
                </a:solidFill>
                <a:latin typeface="Aptos"/>
              </a:rPr>
              <a:t>Problem Statement Title:  </a:t>
            </a:r>
            <a:r>
              <a:rPr sz="1200" b="0" i="0">
                <a:solidFill>
                  <a:srgbClr val="1B242C"/>
                </a:solidFill>
                <a:latin typeface="Aptos"/>
              </a:rPr>
              <a:t>AI-Powered Automated Underwater Marine Debris and Anomaly Detection System using Side-Scan Sonar Imagery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93776" y="4562856"/>
            <a:ext cx="58978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24B76"/>
                </a:solidFill>
                <a:latin typeface="Aptos"/>
              </a:rPr>
              <a:t>Theme:  </a:t>
            </a:r>
            <a:r>
              <a:rPr sz="1200" b="0" i="0">
                <a:solidFill>
                  <a:srgbClr val="1B242C"/>
                </a:solidFill>
                <a:latin typeface="Aptos"/>
              </a:rPr>
              <a:t>Disaster Management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3776" y="5015484"/>
            <a:ext cx="58978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24B76"/>
                </a:solidFill>
                <a:latin typeface="Aptos"/>
              </a:rPr>
              <a:t>PS Category:  </a:t>
            </a:r>
            <a:r>
              <a:rPr sz="1200" b="0" i="0">
                <a:solidFill>
                  <a:srgbClr val="1B242C"/>
                </a:solidFill>
                <a:latin typeface="Aptos"/>
              </a:rPr>
              <a:t>Software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3776" y="5468112"/>
            <a:ext cx="58978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24B76"/>
                </a:solidFill>
                <a:latin typeface="Aptos"/>
              </a:rPr>
              <a:t>Team ID:  </a:t>
            </a:r>
            <a:r>
              <a:rPr sz="1200" b="0" i="0">
                <a:solidFill>
                  <a:srgbClr val="1B242C"/>
                </a:solidFill>
                <a:latin typeface="Aptos"/>
              </a:rPr>
              <a:t>[ENTER TEAM ID]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3776" y="5920740"/>
            <a:ext cx="589788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24B76"/>
                </a:solidFill>
                <a:latin typeface="Aptos"/>
              </a:rPr>
              <a:t>Team Name:  </a:t>
            </a:r>
            <a:r>
              <a:rPr sz="1200" b="0" i="0">
                <a:solidFill>
                  <a:srgbClr val="1B242C"/>
                </a:solidFill>
                <a:latin typeface="Aptos"/>
              </a:rPr>
              <a:t>[ENTER REGISTERED TEAM NAME]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65392" y="5431536"/>
            <a:ext cx="1143000" cy="384048"/>
          </a:xfrm>
          <a:prstGeom prst="roundRect">
            <a:avLst/>
          </a:prstGeom>
          <a:solidFill>
            <a:srgbClr val="E7F2FA"/>
          </a:solidFill>
          <a:ln w="6350"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79" y="5440680"/>
            <a:ext cx="1106424" cy="36575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224B76"/>
                </a:solidFill>
                <a:latin typeface="Aptos"/>
              </a:rPr>
              <a:t>AI / CV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90688" y="5431536"/>
            <a:ext cx="1234440" cy="384048"/>
          </a:xfrm>
          <a:prstGeom prst="roundRect">
            <a:avLst/>
          </a:prstGeom>
          <a:solidFill>
            <a:srgbClr val="E8F7F6"/>
          </a:solidFill>
          <a:ln w="6350">
            <a:solidFill>
              <a:srgbClr val="E8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08975" y="5440680"/>
            <a:ext cx="1197864" cy="36575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0878B"/>
                </a:solidFill>
                <a:latin typeface="Aptos"/>
              </a:rPr>
              <a:t>SONAR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07424" y="5431536"/>
            <a:ext cx="1005840" cy="384048"/>
          </a:xfrm>
          <a:prstGeom prst="roundRect">
            <a:avLst/>
          </a:prstGeom>
          <a:solidFill>
            <a:srgbClr val="EBF7EF"/>
          </a:solidFill>
          <a:ln w="6350">
            <a:solidFill>
              <a:srgbClr val="EB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25712" y="5440680"/>
            <a:ext cx="969264" cy="36575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D7A46"/>
                </a:solidFill>
                <a:latin typeface="Aptos"/>
              </a:rPr>
              <a:t>GIS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204704" y="5431536"/>
            <a:ext cx="914400" cy="384048"/>
          </a:xfrm>
          <a:prstGeom prst="roundRect">
            <a:avLst/>
          </a:prstGeom>
          <a:solidFill>
            <a:srgbClr val="FCF1E7"/>
          </a:solidFill>
          <a:ln w="6350">
            <a:solidFill>
              <a:srgbClr val="FC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222992" y="5440680"/>
            <a:ext cx="877824" cy="365759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6792D"/>
                </a:solidFill>
                <a:latin typeface="Aptos"/>
              </a:rPr>
              <a:t>EDGE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 algn="ctr"/>
            <a:r>
              <a:rPr sz="3000" b="1" i="0">
                <a:solidFill>
                  <a:srgbClr val="1B242C"/>
                </a:solidFill>
                <a:latin typeface="Georgia"/>
              </a:rPr>
              <a:t>GHOSTNET-AI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850" b="0" i="0">
                <a:solidFill>
                  <a:srgbClr val="FFFFFF"/>
                </a:solidFill>
                <a:latin typeface="Aptos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7051A5"/>
                </a:solidFill>
                <a:latin typeface="Aptos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75488" y="1234440"/>
            <a:ext cx="110642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4B76"/>
                </a:solidFill>
                <a:latin typeface="Aptos"/>
              </a:rPr>
              <a:t>Turning raw sonar imagery into trustworthy, map-ready marine intelligence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38912" y="1664208"/>
            <a:ext cx="3218688" cy="4334256"/>
          </a:xfrm>
          <a:prstGeom prst="roundRect">
            <a:avLst/>
          </a:prstGeom>
          <a:solidFill>
            <a:srgbClr val="F4F8FB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TextBox 15363"/>
          <p:cNvSpPr txBox="1"/>
          <p:nvPr/>
        </p:nvSpPr>
        <p:spPr>
          <a:xfrm>
            <a:off x="658368" y="1847088"/>
            <a:ext cx="278892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32E46"/>
                </a:solidFill>
                <a:latin typeface="Aptos"/>
              </a:rPr>
              <a:t>THE GAP</a:t>
            </a:r>
          </a:p>
        </p:txBody>
      </p:sp>
      <p:sp>
        <p:nvSpPr>
          <p:cNvPr id="15365" name="TextBox 15364"/>
          <p:cNvSpPr txBox="1"/>
          <p:nvPr/>
        </p:nvSpPr>
        <p:spPr>
          <a:xfrm>
            <a:off x="658368" y="2157984"/>
            <a:ext cx="27432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6636F"/>
                </a:solidFill>
                <a:latin typeface="Aptos"/>
              </a:rPr>
              <a:t>Why manual sonar review breaks at scale</a:t>
            </a:r>
          </a:p>
        </p:txBody>
      </p:sp>
      <p:sp>
        <p:nvSpPr>
          <p:cNvPr id="15366" name="Oval 15365"/>
          <p:cNvSpPr/>
          <p:nvPr/>
        </p:nvSpPr>
        <p:spPr>
          <a:xfrm>
            <a:off x="658368" y="2670048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7" name="TextBox 15366"/>
          <p:cNvSpPr txBox="1"/>
          <p:nvPr/>
        </p:nvSpPr>
        <p:spPr>
          <a:xfrm>
            <a:off x="658368" y="2674620"/>
            <a:ext cx="36576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070C0"/>
                </a:solidFill>
                <a:latin typeface="Aptos"/>
              </a:rPr>
              <a:t>01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1143000" y="2660904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32E46"/>
                </a:solidFill>
                <a:latin typeface="Aptos"/>
              </a:rPr>
              <a:t>Large sonar logs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1143000" y="2898648"/>
            <a:ext cx="21488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0">
                <a:solidFill>
                  <a:srgbClr val="1B242C"/>
                </a:solidFill>
                <a:latin typeface="Aptos"/>
              </a:rPr>
              <a:t>Thousands of frames/pings need inspection.</a:t>
            </a:r>
          </a:p>
        </p:txBody>
      </p:sp>
      <p:sp>
        <p:nvSpPr>
          <p:cNvPr id="15370" name="Oval 15369"/>
          <p:cNvSpPr/>
          <p:nvPr/>
        </p:nvSpPr>
        <p:spPr>
          <a:xfrm>
            <a:off x="658368" y="3694176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658368" y="3698748"/>
            <a:ext cx="36576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070C0"/>
                </a:solidFill>
                <a:latin typeface="Aptos"/>
              </a:rPr>
              <a:t>02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1143000" y="3685032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32E46"/>
                </a:solidFill>
                <a:latin typeface="Aptos"/>
              </a:rPr>
              <a:t>False positives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1143000" y="3922776"/>
            <a:ext cx="21488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0">
                <a:solidFill>
                  <a:srgbClr val="1B242C"/>
                </a:solidFill>
                <a:latin typeface="Aptos"/>
              </a:rPr>
              <a:t>Rocks, ripples and shadows can mimic debris.</a:t>
            </a:r>
          </a:p>
        </p:txBody>
      </p:sp>
      <p:sp>
        <p:nvSpPr>
          <p:cNvPr id="15374" name="Oval 15373"/>
          <p:cNvSpPr/>
          <p:nvPr/>
        </p:nvSpPr>
        <p:spPr>
          <a:xfrm>
            <a:off x="658368" y="4718304"/>
            <a:ext cx="365760" cy="36576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TextBox 15374"/>
          <p:cNvSpPr txBox="1"/>
          <p:nvPr/>
        </p:nvSpPr>
        <p:spPr>
          <a:xfrm>
            <a:off x="658368" y="4722876"/>
            <a:ext cx="365760" cy="3566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070C0"/>
                </a:solidFill>
                <a:latin typeface="Aptos"/>
              </a:rPr>
              <a:t>03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1143000" y="4709160"/>
            <a:ext cx="21488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32E46"/>
                </a:solidFill>
                <a:latin typeface="Aptos"/>
              </a:rPr>
              <a:t>Weak handoff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1143000" y="4946904"/>
            <a:ext cx="214884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 i="0">
                <a:solidFill>
                  <a:srgbClr val="1B242C"/>
                </a:solidFill>
                <a:latin typeface="Aptos"/>
              </a:rPr>
              <a:t>Finding a target is not the same as locating it for action.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658368" y="5586984"/>
            <a:ext cx="26974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6636F"/>
                </a:solidFill>
                <a:latin typeface="Aptos"/>
              </a:rPr>
              <a:t>TARGETS</a:t>
            </a:r>
          </a:p>
        </p:txBody>
      </p:sp>
      <p:sp>
        <p:nvSpPr>
          <p:cNvPr id="15379" name="Rounded Rectangle 15378"/>
          <p:cNvSpPr/>
          <p:nvPr/>
        </p:nvSpPr>
        <p:spPr>
          <a:xfrm>
            <a:off x="658368" y="5833872"/>
            <a:ext cx="804672" cy="274320"/>
          </a:xfrm>
          <a:prstGeom prst="roundRect">
            <a:avLst/>
          </a:prstGeom>
          <a:solidFill>
            <a:srgbClr val="E7F2FA"/>
          </a:solidFill>
          <a:ln w="6350"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0" name="TextBox 15379"/>
          <p:cNvSpPr txBox="1"/>
          <p:nvPr/>
        </p:nvSpPr>
        <p:spPr>
          <a:xfrm>
            <a:off x="676656" y="5843016"/>
            <a:ext cx="768096" cy="2560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224B76"/>
                </a:solidFill>
                <a:latin typeface="Aptos"/>
              </a:rPr>
              <a:t>Ghost net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1517904" y="5833872"/>
            <a:ext cx="658368" cy="274320"/>
          </a:xfrm>
          <a:prstGeom prst="roundRect">
            <a:avLst/>
          </a:prstGeom>
          <a:solidFill>
            <a:srgbClr val="E7F2FA"/>
          </a:solidFill>
          <a:ln w="6350"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2" name="TextBox 15381"/>
          <p:cNvSpPr txBox="1"/>
          <p:nvPr/>
        </p:nvSpPr>
        <p:spPr>
          <a:xfrm>
            <a:off x="1536192" y="5843016"/>
            <a:ext cx="621792" cy="2560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224B76"/>
                </a:solidFill>
                <a:latin typeface="Aptos"/>
              </a:rPr>
              <a:t>Wreck</a:t>
            </a:r>
          </a:p>
        </p:txBody>
      </p:sp>
      <p:sp>
        <p:nvSpPr>
          <p:cNvPr id="15383" name="Rounded Rectangle 15382"/>
          <p:cNvSpPr/>
          <p:nvPr/>
        </p:nvSpPr>
        <p:spPr>
          <a:xfrm>
            <a:off x="2231136" y="5833872"/>
            <a:ext cx="786384" cy="274320"/>
          </a:xfrm>
          <a:prstGeom prst="roundRect">
            <a:avLst/>
          </a:prstGeom>
          <a:solidFill>
            <a:srgbClr val="E8F7F6"/>
          </a:solidFill>
          <a:ln w="6350">
            <a:solidFill>
              <a:srgbClr val="E8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4" name="TextBox 15383"/>
          <p:cNvSpPr txBox="1"/>
          <p:nvPr/>
        </p:nvSpPr>
        <p:spPr>
          <a:xfrm>
            <a:off x="2249424" y="5843016"/>
            <a:ext cx="749808" cy="2560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00878B"/>
                </a:solidFill>
                <a:latin typeface="Aptos"/>
              </a:rPr>
              <a:t>Pipe / cyl.</a:t>
            </a:r>
          </a:p>
        </p:txBody>
      </p:sp>
      <p:sp>
        <p:nvSpPr>
          <p:cNvPr id="15385" name="Rounded Rectangle 15384"/>
          <p:cNvSpPr/>
          <p:nvPr/>
        </p:nvSpPr>
        <p:spPr>
          <a:xfrm>
            <a:off x="3072384" y="5833872"/>
            <a:ext cx="347472" cy="274320"/>
          </a:xfrm>
          <a:prstGeom prst="roundRect">
            <a:avLst/>
          </a:prstGeom>
          <a:solidFill>
            <a:srgbClr val="FCF1E7"/>
          </a:solidFill>
          <a:ln w="6350">
            <a:solidFill>
              <a:srgbClr val="FC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6" name="TextBox 15385"/>
          <p:cNvSpPr txBox="1"/>
          <p:nvPr/>
        </p:nvSpPr>
        <p:spPr>
          <a:xfrm>
            <a:off x="3090672" y="5843016"/>
            <a:ext cx="310896" cy="25603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E6792D"/>
                </a:solidFill>
                <a:latin typeface="Aptos"/>
              </a:rPr>
              <a:t>+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3840480" y="1664208"/>
            <a:ext cx="4114800" cy="433425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TextBox 15387"/>
          <p:cNvSpPr txBox="1"/>
          <p:nvPr/>
        </p:nvSpPr>
        <p:spPr>
          <a:xfrm>
            <a:off x="4069080" y="1847088"/>
            <a:ext cx="36576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32E46"/>
                </a:solidFill>
                <a:latin typeface="Aptos"/>
              </a:rPr>
              <a:t>PROPOSED SOLUTION</a:t>
            </a:r>
          </a:p>
        </p:txBody>
      </p:sp>
      <p:sp>
        <p:nvSpPr>
          <p:cNvPr id="15389" name="TextBox 15388"/>
          <p:cNvSpPr txBox="1"/>
          <p:nvPr/>
        </p:nvSpPr>
        <p:spPr>
          <a:xfrm>
            <a:off x="4069080" y="2157984"/>
            <a:ext cx="361188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6636F"/>
                </a:solidFill>
                <a:latin typeface="Aptos"/>
              </a:rPr>
              <a:t>End-to-end AI decision pipeline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4133087" y="2670048"/>
            <a:ext cx="3520440" cy="493776"/>
          </a:xfrm>
          <a:prstGeom prst="roundRect">
            <a:avLst/>
          </a:prstGeom>
          <a:solidFill>
            <a:srgbClr val="E7F2FA"/>
          </a:solidFill>
          <a:ln w="13970"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1" name="TextBox 15390"/>
          <p:cNvSpPr txBox="1"/>
          <p:nvPr/>
        </p:nvSpPr>
        <p:spPr>
          <a:xfrm>
            <a:off x="4279392" y="2688336"/>
            <a:ext cx="3657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0070C0"/>
                </a:solidFill>
                <a:latin typeface="Aptos"/>
              </a:rPr>
              <a:t>01</a:t>
            </a:r>
          </a:p>
        </p:txBody>
      </p:sp>
      <p:sp>
        <p:nvSpPr>
          <p:cNvPr id="15392" name="TextBox 15391"/>
          <p:cNvSpPr txBox="1"/>
          <p:nvPr/>
        </p:nvSpPr>
        <p:spPr>
          <a:xfrm>
            <a:off x="4663440" y="2679191"/>
            <a:ext cx="27432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32E46"/>
                </a:solidFill>
                <a:latin typeface="Aptos"/>
              </a:rPr>
              <a:t>SSS INPUT</a:t>
            </a:r>
          </a:p>
        </p:txBody>
      </p:sp>
      <p:cxnSp>
        <p:nvCxnSpPr>
          <p:cNvPr id="15393" name="Connector 15392"/>
          <p:cNvCxnSpPr/>
          <p:nvPr/>
        </p:nvCxnSpPr>
        <p:spPr>
          <a:xfrm>
            <a:off x="5897880" y="3172968"/>
            <a:ext cx="0" cy="137160"/>
          </a:xfrm>
          <a:prstGeom prst="line">
            <a:avLst/>
          </a:prstGeom>
          <a:ln w="2286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4" name="Rounded Rectangle 15393"/>
          <p:cNvSpPr/>
          <p:nvPr/>
        </p:nvSpPr>
        <p:spPr>
          <a:xfrm>
            <a:off x="4133087" y="3328415"/>
            <a:ext cx="3520440" cy="493776"/>
          </a:xfrm>
          <a:prstGeom prst="roundRect">
            <a:avLst/>
          </a:prstGeom>
          <a:solidFill>
            <a:srgbClr val="E8F7F6"/>
          </a:solidFill>
          <a:ln w="13970">
            <a:solidFill>
              <a:srgbClr val="E8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5" name="TextBox 15394"/>
          <p:cNvSpPr txBox="1"/>
          <p:nvPr/>
        </p:nvSpPr>
        <p:spPr>
          <a:xfrm>
            <a:off x="4279392" y="3346703"/>
            <a:ext cx="3657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00878B"/>
                </a:solidFill>
                <a:latin typeface="Aptos"/>
              </a:rPr>
              <a:t>02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4663440" y="3337559"/>
            <a:ext cx="27432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32E46"/>
                </a:solidFill>
                <a:latin typeface="Aptos"/>
              </a:rPr>
              <a:t>PREPROCESS</a:t>
            </a:r>
          </a:p>
        </p:txBody>
      </p:sp>
      <p:cxnSp>
        <p:nvCxnSpPr>
          <p:cNvPr id="15397" name="Connector 15396"/>
          <p:cNvCxnSpPr/>
          <p:nvPr/>
        </p:nvCxnSpPr>
        <p:spPr>
          <a:xfrm>
            <a:off x="5897880" y="3831335"/>
            <a:ext cx="0" cy="137161"/>
          </a:xfrm>
          <a:prstGeom prst="line">
            <a:avLst/>
          </a:prstGeom>
          <a:ln w="22860">
            <a:solidFill>
              <a:srgbClr val="00878B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8" name="Rounded Rectangle 15397"/>
          <p:cNvSpPr/>
          <p:nvPr/>
        </p:nvSpPr>
        <p:spPr>
          <a:xfrm>
            <a:off x="4133087" y="3986783"/>
            <a:ext cx="3520440" cy="493776"/>
          </a:xfrm>
          <a:prstGeom prst="roundRect">
            <a:avLst/>
          </a:prstGeom>
          <a:solidFill>
            <a:srgbClr val="FCF1E7"/>
          </a:solidFill>
          <a:ln w="13970">
            <a:solidFill>
              <a:srgbClr val="FC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99" name="TextBox 15398"/>
          <p:cNvSpPr txBox="1"/>
          <p:nvPr/>
        </p:nvSpPr>
        <p:spPr>
          <a:xfrm>
            <a:off x="4279392" y="4005071"/>
            <a:ext cx="3657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E6792D"/>
                </a:solidFill>
                <a:latin typeface="Aptos"/>
              </a:rPr>
              <a:t>03</a:t>
            </a:r>
          </a:p>
        </p:txBody>
      </p:sp>
      <p:sp>
        <p:nvSpPr>
          <p:cNvPr id="15400" name="TextBox 15399"/>
          <p:cNvSpPr txBox="1"/>
          <p:nvPr/>
        </p:nvSpPr>
        <p:spPr>
          <a:xfrm>
            <a:off x="4663440" y="3995927"/>
            <a:ext cx="27432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32E46"/>
                </a:solidFill>
                <a:latin typeface="Aptos"/>
              </a:rPr>
              <a:t>AI DETECT</a:t>
            </a:r>
          </a:p>
        </p:txBody>
      </p:sp>
      <p:cxnSp>
        <p:nvCxnSpPr>
          <p:cNvPr id="15401" name="Connector 15400"/>
          <p:cNvCxnSpPr/>
          <p:nvPr/>
        </p:nvCxnSpPr>
        <p:spPr>
          <a:xfrm>
            <a:off x="5897880" y="4489703"/>
            <a:ext cx="0" cy="137161"/>
          </a:xfrm>
          <a:prstGeom prst="line">
            <a:avLst/>
          </a:prstGeom>
          <a:ln w="22860">
            <a:solidFill>
              <a:srgbClr val="E6792D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2" name="Rounded Rectangle 15401"/>
          <p:cNvSpPr/>
          <p:nvPr/>
        </p:nvSpPr>
        <p:spPr>
          <a:xfrm>
            <a:off x="4133087" y="4645151"/>
            <a:ext cx="3520440" cy="493776"/>
          </a:xfrm>
          <a:prstGeom prst="roundRect">
            <a:avLst/>
          </a:prstGeom>
          <a:solidFill>
            <a:srgbClr val="EBF7EF"/>
          </a:solidFill>
          <a:ln w="13970">
            <a:solidFill>
              <a:srgbClr val="EB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3" name="TextBox 15402"/>
          <p:cNvSpPr txBox="1"/>
          <p:nvPr/>
        </p:nvSpPr>
        <p:spPr>
          <a:xfrm>
            <a:off x="4279392" y="4663439"/>
            <a:ext cx="3657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1D7A46"/>
                </a:solidFill>
                <a:latin typeface="Aptos"/>
              </a:rPr>
              <a:t>04</a:t>
            </a:r>
          </a:p>
        </p:txBody>
      </p:sp>
      <p:sp>
        <p:nvSpPr>
          <p:cNvPr id="15404" name="TextBox 15403"/>
          <p:cNvSpPr txBox="1"/>
          <p:nvPr/>
        </p:nvSpPr>
        <p:spPr>
          <a:xfrm>
            <a:off x="4663440" y="4654295"/>
            <a:ext cx="27432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32E46"/>
                </a:solidFill>
                <a:latin typeface="Aptos"/>
              </a:rPr>
              <a:t>VERIFY</a:t>
            </a:r>
          </a:p>
        </p:txBody>
      </p:sp>
      <p:cxnSp>
        <p:nvCxnSpPr>
          <p:cNvPr id="15405" name="Connector 15404"/>
          <p:cNvCxnSpPr/>
          <p:nvPr/>
        </p:nvCxnSpPr>
        <p:spPr>
          <a:xfrm>
            <a:off x="5897880" y="5148071"/>
            <a:ext cx="0" cy="137160"/>
          </a:xfrm>
          <a:prstGeom prst="line">
            <a:avLst/>
          </a:prstGeom>
          <a:ln w="22860">
            <a:solidFill>
              <a:srgbClr val="1D7A46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06" name="Rounded Rectangle 15405"/>
          <p:cNvSpPr/>
          <p:nvPr/>
        </p:nvSpPr>
        <p:spPr>
          <a:xfrm>
            <a:off x="4133087" y="5303519"/>
            <a:ext cx="3520440" cy="493776"/>
          </a:xfrm>
          <a:prstGeom prst="roundRect">
            <a:avLst/>
          </a:prstGeom>
          <a:solidFill>
            <a:srgbClr val="EFEEFA"/>
          </a:solidFill>
          <a:ln w="13970">
            <a:solidFill>
              <a:srgbClr val="EFEE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7" name="TextBox 15406"/>
          <p:cNvSpPr txBox="1"/>
          <p:nvPr/>
        </p:nvSpPr>
        <p:spPr>
          <a:xfrm>
            <a:off x="4279392" y="5321807"/>
            <a:ext cx="36576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7051A5"/>
                </a:solidFill>
                <a:latin typeface="Aptos"/>
              </a:rPr>
              <a:t>05</a:t>
            </a:r>
          </a:p>
        </p:txBody>
      </p:sp>
      <p:sp>
        <p:nvSpPr>
          <p:cNvPr id="15408" name="TextBox 15407"/>
          <p:cNvSpPr txBox="1"/>
          <p:nvPr/>
        </p:nvSpPr>
        <p:spPr>
          <a:xfrm>
            <a:off x="4663440" y="5312663"/>
            <a:ext cx="2743200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32E46"/>
                </a:solidFill>
                <a:latin typeface="Aptos"/>
              </a:rPr>
              <a:t>GEO + PRIORITY</a:t>
            </a:r>
          </a:p>
        </p:txBody>
      </p:sp>
      <p:sp>
        <p:nvSpPr>
          <p:cNvPr id="15409" name="TextBox 15408"/>
          <p:cNvSpPr txBox="1"/>
          <p:nvPr/>
        </p:nvSpPr>
        <p:spPr>
          <a:xfrm>
            <a:off x="4133087" y="5916168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1" i="0">
                <a:solidFill>
                  <a:srgbClr val="224B76"/>
                </a:solidFill>
                <a:latin typeface="Aptos"/>
              </a:rPr>
              <a:t>OUTPUT  →  Detection • Confidence • Lat/Lon • Report</a:t>
            </a:r>
          </a:p>
        </p:txBody>
      </p:sp>
      <p:sp>
        <p:nvSpPr>
          <p:cNvPr id="15410" name="Rounded Rectangle 15409"/>
          <p:cNvSpPr/>
          <p:nvPr/>
        </p:nvSpPr>
        <p:spPr>
          <a:xfrm>
            <a:off x="8156448" y="1664208"/>
            <a:ext cx="3584448" cy="4334256"/>
          </a:xfrm>
          <a:prstGeom prst="roundRect">
            <a:avLst/>
          </a:prstGeom>
          <a:solidFill>
            <a:srgbClr val="F4F8FB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11" name="TextBox 15410"/>
          <p:cNvSpPr txBox="1"/>
          <p:nvPr/>
        </p:nvSpPr>
        <p:spPr>
          <a:xfrm>
            <a:off x="8394192" y="1847088"/>
            <a:ext cx="310896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32E46"/>
                </a:solidFill>
                <a:latin typeface="Aptos"/>
              </a:rPr>
              <a:t>WHAT IS DISTINCTIVE?</a:t>
            </a:r>
          </a:p>
        </p:txBody>
      </p:sp>
      <p:sp>
        <p:nvSpPr>
          <p:cNvPr id="15412" name="TextBox 15411"/>
          <p:cNvSpPr txBox="1"/>
          <p:nvPr/>
        </p:nvSpPr>
        <p:spPr>
          <a:xfrm>
            <a:off x="8394192" y="2359152"/>
            <a:ext cx="3108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070C0"/>
                </a:solidFill>
                <a:latin typeface="Aptos"/>
              </a:rPr>
              <a:t>01</a:t>
            </a:r>
          </a:p>
        </p:txBody>
      </p:sp>
      <p:sp>
        <p:nvSpPr>
          <p:cNvPr id="15413" name="TextBox 15412"/>
          <p:cNvSpPr txBox="1"/>
          <p:nvPr/>
        </p:nvSpPr>
        <p:spPr>
          <a:xfrm>
            <a:off x="8759952" y="2359152"/>
            <a:ext cx="26517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32E46"/>
                </a:solidFill>
                <a:latin typeface="Aptos"/>
              </a:rPr>
              <a:t>Natural ↔ Artificial</a:t>
            </a:r>
          </a:p>
        </p:txBody>
      </p:sp>
      <p:sp>
        <p:nvSpPr>
          <p:cNvPr id="15414" name="TextBox 15413"/>
          <p:cNvSpPr txBox="1"/>
          <p:nvPr/>
        </p:nvSpPr>
        <p:spPr>
          <a:xfrm>
            <a:off x="8394192" y="2624328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 i="0">
                <a:solidFill>
                  <a:srgbClr val="1B242C"/>
                </a:solidFill>
                <a:latin typeface="Aptos"/>
              </a:rPr>
              <a:t>Seabed context + verifier reduce look-alike errors.</a:t>
            </a:r>
          </a:p>
        </p:txBody>
      </p:sp>
      <p:sp>
        <p:nvSpPr>
          <p:cNvPr id="15415" name="TextBox 15414"/>
          <p:cNvSpPr txBox="1"/>
          <p:nvPr/>
        </p:nvSpPr>
        <p:spPr>
          <a:xfrm>
            <a:off x="8394192" y="3227832"/>
            <a:ext cx="3108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070C0"/>
                </a:solidFill>
                <a:latin typeface="Aptos"/>
              </a:rPr>
              <a:t>02</a:t>
            </a:r>
          </a:p>
        </p:txBody>
      </p:sp>
      <p:sp>
        <p:nvSpPr>
          <p:cNvPr id="15416" name="TextBox 15415"/>
          <p:cNvSpPr txBox="1"/>
          <p:nvPr/>
        </p:nvSpPr>
        <p:spPr>
          <a:xfrm>
            <a:off x="8759952" y="3227832"/>
            <a:ext cx="26517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32E46"/>
                </a:solidFill>
                <a:latin typeface="Aptos"/>
              </a:rPr>
              <a:t>Confidence-aware</a:t>
            </a:r>
          </a:p>
        </p:txBody>
      </p:sp>
      <p:sp>
        <p:nvSpPr>
          <p:cNvPr id="15417" name="TextBox 15416"/>
          <p:cNvSpPr txBox="1"/>
          <p:nvPr/>
        </p:nvSpPr>
        <p:spPr>
          <a:xfrm>
            <a:off x="8394192" y="3493008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 i="0">
                <a:solidFill>
                  <a:srgbClr val="1B242C"/>
                </a:solidFill>
                <a:latin typeface="Aptos"/>
              </a:rPr>
              <a:t>Every target carries a trust signal for review.</a:t>
            </a:r>
          </a:p>
        </p:txBody>
      </p:sp>
      <p:sp>
        <p:nvSpPr>
          <p:cNvPr id="15418" name="TextBox 15417"/>
          <p:cNvSpPr txBox="1"/>
          <p:nvPr/>
        </p:nvSpPr>
        <p:spPr>
          <a:xfrm>
            <a:off x="8394192" y="4096512"/>
            <a:ext cx="3108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070C0"/>
                </a:solidFill>
                <a:latin typeface="Aptos"/>
              </a:rPr>
              <a:t>03</a:t>
            </a:r>
          </a:p>
        </p:txBody>
      </p:sp>
      <p:sp>
        <p:nvSpPr>
          <p:cNvPr id="15419" name="TextBox 15418"/>
          <p:cNvSpPr txBox="1"/>
          <p:nvPr/>
        </p:nvSpPr>
        <p:spPr>
          <a:xfrm>
            <a:off x="8759952" y="4096512"/>
            <a:ext cx="26517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32E46"/>
                </a:solidFill>
                <a:latin typeface="Aptos"/>
              </a:rPr>
              <a:t>Actionable GIS</a:t>
            </a:r>
          </a:p>
        </p:txBody>
      </p:sp>
      <p:sp>
        <p:nvSpPr>
          <p:cNvPr id="15420" name="TextBox 15419"/>
          <p:cNvSpPr txBox="1"/>
          <p:nvPr/>
        </p:nvSpPr>
        <p:spPr>
          <a:xfrm>
            <a:off x="8394192" y="4361688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 i="0">
                <a:solidFill>
                  <a:srgbClr val="1B242C"/>
                </a:solidFill>
                <a:latin typeface="Aptos"/>
              </a:rPr>
              <a:t>Detection becomes a geolocated operational record.</a:t>
            </a:r>
          </a:p>
        </p:txBody>
      </p:sp>
      <p:sp>
        <p:nvSpPr>
          <p:cNvPr id="15421" name="TextBox 15420"/>
          <p:cNvSpPr txBox="1"/>
          <p:nvPr/>
        </p:nvSpPr>
        <p:spPr>
          <a:xfrm>
            <a:off x="8394192" y="4965192"/>
            <a:ext cx="310896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0070C0"/>
                </a:solidFill>
                <a:latin typeface="Aptos"/>
              </a:rPr>
              <a:t>04</a:t>
            </a:r>
          </a:p>
        </p:txBody>
      </p:sp>
      <p:sp>
        <p:nvSpPr>
          <p:cNvPr id="15422" name="TextBox 15421"/>
          <p:cNvSpPr txBox="1"/>
          <p:nvPr/>
        </p:nvSpPr>
        <p:spPr>
          <a:xfrm>
            <a:off x="8759952" y="4965192"/>
            <a:ext cx="265176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 i="0">
                <a:solidFill>
                  <a:srgbClr val="132E46"/>
                </a:solidFill>
                <a:latin typeface="Aptos"/>
              </a:rPr>
              <a:t>Edge / Offline</a:t>
            </a:r>
          </a:p>
        </p:txBody>
      </p:sp>
      <p:sp>
        <p:nvSpPr>
          <p:cNvPr id="15423" name="TextBox 15422"/>
          <p:cNvSpPr txBox="1"/>
          <p:nvPr/>
        </p:nvSpPr>
        <p:spPr>
          <a:xfrm>
            <a:off x="8394192" y="5230368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 i="0">
                <a:solidFill>
                  <a:srgbClr val="1B242C"/>
                </a:solidFill>
                <a:latin typeface="Aptos"/>
              </a:rPr>
              <a:t>Inference path can run without heavy cloud dependence.</a:t>
            </a:r>
          </a:p>
        </p:txBody>
      </p:sp>
      <p:sp>
        <p:nvSpPr>
          <p:cNvPr id="15424" name="TextBox 15423"/>
          <p:cNvSpPr txBox="1"/>
          <p:nvPr/>
        </p:nvSpPr>
        <p:spPr>
          <a:xfrm>
            <a:off x="8394192" y="5650992"/>
            <a:ext cx="2971800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i="0">
                <a:solidFill>
                  <a:srgbClr val="E6792D"/>
                </a:solidFill>
                <a:latin typeface="Aptos"/>
              </a:rPr>
              <a:t>SEE  →  TRUST  →  ACT</a:t>
            </a:r>
          </a:p>
        </p:txBody>
      </p:sp>
      <p:sp>
        <p:nvSpPr>
          <p:cNvPr id="15425" name="TextBox 15424"/>
          <p:cNvSpPr txBox="1"/>
          <p:nvPr/>
        </p:nvSpPr>
        <p:spPr>
          <a:xfrm>
            <a:off x="484632" y="6190488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 i="0">
                <a:solidFill>
                  <a:srgbClr val="56636F"/>
                </a:solidFill>
                <a:latin typeface="Aptos"/>
              </a:rPr>
              <a:t>GHOSTNET-AI  •  SIH26057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850" b="0" i="0">
                <a:solidFill>
                  <a:srgbClr val="FFFFFF"/>
                </a:solidFill>
                <a:latin typeface="Aptos"/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7051A5"/>
                </a:solidFill>
                <a:latin typeface="Aptos"/>
              </a:rPr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75488" y="1234440"/>
            <a:ext cx="110642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4B76"/>
                </a:solidFill>
                <a:latin typeface="Aptos"/>
              </a:rPr>
              <a:t>Multi-stage pipeline designed for noisy, ambiguous side-scan sonar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530352" y="1627632"/>
            <a:ext cx="109728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6636F"/>
                </a:solidFill>
                <a:latin typeface="Aptos"/>
              </a:rPr>
              <a:t>STACK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1170432" y="1591056"/>
            <a:ext cx="1508760" cy="347472"/>
          </a:xfrm>
          <a:prstGeom prst="roundRect">
            <a:avLst/>
          </a:prstGeom>
          <a:solidFill>
            <a:srgbClr val="E7F2FA"/>
          </a:solidFill>
          <a:ln w="6350"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1188720" y="1600200"/>
            <a:ext cx="147218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224B76"/>
                </a:solidFill>
                <a:latin typeface="Aptos"/>
              </a:rPr>
              <a:t>Python / PyTorch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2770632" y="1591056"/>
            <a:ext cx="1234440" cy="347472"/>
          </a:xfrm>
          <a:prstGeom prst="roundRect">
            <a:avLst/>
          </a:prstGeom>
          <a:solidFill>
            <a:srgbClr val="FCF1E7"/>
          </a:solidFill>
          <a:ln w="6350">
            <a:solidFill>
              <a:srgbClr val="FC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2788920" y="1600200"/>
            <a:ext cx="119786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E6792D"/>
                </a:solidFill>
                <a:latin typeface="Aptos"/>
              </a:rPr>
              <a:t>YOLO11 + CV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096512" y="1591056"/>
            <a:ext cx="1417320" cy="347472"/>
          </a:xfrm>
          <a:prstGeom prst="roundRect">
            <a:avLst/>
          </a:prstGeom>
          <a:solidFill>
            <a:srgbClr val="EBF7EF"/>
          </a:solidFill>
          <a:ln w="6350">
            <a:solidFill>
              <a:srgbClr val="EB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4114800" y="1600200"/>
            <a:ext cx="138074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1D7A46"/>
                </a:solidFill>
                <a:latin typeface="Aptos"/>
              </a:rPr>
              <a:t>EfficientNet-B0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5605272" y="1591056"/>
            <a:ext cx="960120" cy="347472"/>
          </a:xfrm>
          <a:prstGeom prst="roundRect">
            <a:avLst/>
          </a:prstGeom>
          <a:solidFill>
            <a:srgbClr val="E8F7F6"/>
          </a:solidFill>
          <a:ln w="6350">
            <a:solidFill>
              <a:srgbClr val="E8F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5623560" y="1600200"/>
            <a:ext cx="92354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00878B"/>
                </a:solidFill>
                <a:latin typeface="Aptos"/>
              </a:rPr>
              <a:t>FastAPI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656832" y="1591056"/>
            <a:ext cx="1600200" cy="347472"/>
          </a:xfrm>
          <a:prstGeom prst="roundRect">
            <a:avLst/>
          </a:prstGeom>
          <a:solidFill>
            <a:srgbClr val="E7F2FA"/>
          </a:solidFill>
          <a:ln w="6350">
            <a:solidFill>
              <a:srgbClr val="E7F2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6675120" y="1600200"/>
            <a:ext cx="156362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224B76"/>
                </a:solidFill>
                <a:latin typeface="Aptos"/>
              </a:rPr>
              <a:t>PostgreSQL + PostGIS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8348472" y="1591056"/>
            <a:ext cx="1143000" cy="347472"/>
          </a:xfrm>
          <a:prstGeom prst="roundRect">
            <a:avLst/>
          </a:prstGeom>
          <a:solidFill>
            <a:srgbClr val="EBF7EF"/>
          </a:solidFill>
          <a:ln w="6350">
            <a:solidFill>
              <a:srgbClr val="EBF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8366760" y="1600200"/>
            <a:ext cx="110642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1D7A46"/>
                </a:solidFill>
                <a:latin typeface="Aptos"/>
              </a:rPr>
              <a:t>React + GIS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9582912" y="1591056"/>
            <a:ext cx="1234440" cy="347472"/>
          </a:xfrm>
          <a:prstGeom prst="roundRect">
            <a:avLst/>
          </a:prstGeom>
          <a:solidFill>
            <a:srgbClr val="FCF1E7"/>
          </a:solidFill>
          <a:ln w="6350">
            <a:solidFill>
              <a:srgbClr val="FC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9601200" y="1600200"/>
            <a:ext cx="1197864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30" b="1" i="0">
                <a:solidFill>
                  <a:srgbClr val="E6792D"/>
                </a:solidFill>
                <a:latin typeface="Aptos"/>
              </a:rPr>
              <a:t>ONNX / Docker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502920" y="2267712"/>
            <a:ext cx="1572768" cy="1874519"/>
          </a:xfrm>
          <a:prstGeom prst="roundRect">
            <a:avLst/>
          </a:prstGeom>
          <a:solidFill>
            <a:srgbClr val="E7F2FA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Oval 17426"/>
          <p:cNvSpPr/>
          <p:nvPr/>
        </p:nvSpPr>
        <p:spPr>
          <a:xfrm>
            <a:off x="603504" y="23774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603504" y="2382012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0070C0"/>
                </a:solidFill>
                <a:latin typeface="Aptos"/>
              </a:rPr>
              <a:t>01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21792" y="2816352"/>
            <a:ext cx="13441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0" b="1" i="0">
                <a:solidFill>
                  <a:srgbClr val="132E46"/>
                </a:solidFill>
                <a:latin typeface="Aptos"/>
              </a:rPr>
              <a:t>SONAR INPUT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630936" y="3255264"/>
            <a:ext cx="131673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1B242C"/>
                </a:solidFill>
                <a:latin typeface="Aptos"/>
              </a:rPr>
              <a:t>Image / log + metadata</a:t>
            </a:r>
          </a:p>
        </p:txBody>
      </p:sp>
      <p:cxnSp>
        <p:nvCxnSpPr>
          <p:cNvPr id="17431" name="Connector 17430"/>
          <p:cNvCxnSpPr/>
          <p:nvPr/>
        </p:nvCxnSpPr>
        <p:spPr>
          <a:xfrm>
            <a:off x="2084831" y="3200400"/>
            <a:ext cx="54865" cy="0"/>
          </a:xfrm>
          <a:prstGeom prst="line">
            <a:avLst/>
          </a:prstGeom>
          <a:ln w="2032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2" name="Rounded Rectangle 17431"/>
          <p:cNvSpPr/>
          <p:nvPr/>
        </p:nvSpPr>
        <p:spPr>
          <a:xfrm>
            <a:off x="2157984" y="2267712"/>
            <a:ext cx="1572768" cy="1874519"/>
          </a:xfrm>
          <a:prstGeom prst="roundRect">
            <a:avLst/>
          </a:prstGeom>
          <a:solidFill>
            <a:srgbClr val="E8F7F6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Oval 17432"/>
          <p:cNvSpPr/>
          <p:nvPr/>
        </p:nvSpPr>
        <p:spPr>
          <a:xfrm>
            <a:off x="2258568" y="23774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87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2258568" y="2382012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00878B"/>
                </a:solidFill>
                <a:latin typeface="Aptos"/>
              </a:rPr>
              <a:t>02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2276856" y="2816352"/>
            <a:ext cx="13441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0" b="1" i="0">
                <a:solidFill>
                  <a:srgbClr val="132E46"/>
                </a:solidFill>
                <a:latin typeface="Aptos"/>
              </a:rPr>
              <a:t>PREPROCESS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2286000" y="3255264"/>
            <a:ext cx="131673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1B242C"/>
                </a:solidFill>
                <a:latin typeface="Aptos"/>
              </a:rPr>
              <a:t>Normalize • enhance • denoise</a:t>
            </a:r>
          </a:p>
        </p:txBody>
      </p:sp>
      <p:cxnSp>
        <p:nvCxnSpPr>
          <p:cNvPr id="17437" name="Connector 17436"/>
          <p:cNvCxnSpPr/>
          <p:nvPr/>
        </p:nvCxnSpPr>
        <p:spPr>
          <a:xfrm>
            <a:off x="3739896" y="3200400"/>
            <a:ext cx="54864" cy="0"/>
          </a:xfrm>
          <a:prstGeom prst="line">
            <a:avLst/>
          </a:prstGeom>
          <a:ln w="2032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8" name="Rounded Rectangle 17437"/>
          <p:cNvSpPr/>
          <p:nvPr/>
        </p:nvSpPr>
        <p:spPr>
          <a:xfrm>
            <a:off x="3813048" y="2267712"/>
            <a:ext cx="1572768" cy="1874519"/>
          </a:xfrm>
          <a:prstGeom prst="roundRect">
            <a:avLst/>
          </a:prstGeom>
          <a:solidFill>
            <a:srgbClr val="FCF1E7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9" name="Oval 17438"/>
          <p:cNvSpPr/>
          <p:nvPr/>
        </p:nvSpPr>
        <p:spPr>
          <a:xfrm>
            <a:off x="3913632" y="23774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E67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TextBox 17439"/>
          <p:cNvSpPr txBox="1"/>
          <p:nvPr/>
        </p:nvSpPr>
        <p:spPr>
          <a:xfrm>
            <a:off x="3913632" y="2382012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E6792D"/>
                </a:solidFill>
                <a:latin typeface="Aptos"/>
              </a:rPr>
              <a:t>03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3931920" y="2816352"/>
            <a:ext cx="13441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0" b="1" i="0">
                <a:solidFill>
                  <a:srgbClr val="132E46"/>
                </a:solidFill>
                <a:latin typeface="Aptos"/>
              </a:rPr>
              <a:t>DETECT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3941064" y="3255264"/>
            <a:ext cx="131673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1B242C"/>
                </a:solidFill>
                <a:latin typeface="Aptos"/>
              </a:rPr>
              <a:t>YOLO11 candidate localization</a:t>
            </a:r>
          </a:p>
        </p:txBody>
      </p:sp>
      <p:cxnSp>
        <p:nvCxnSpPr>
          <p:cNvPr id="17443" name="Connector 17442"/>
          <p:cNvCxnSpPr/>
          <p:nvPr/>
        </p:nvCxnSpPr>
        <p:spPr>
          <a:xfrm>
            <a:off x="5394959" y="3200400"/>
            <a:ext cx="54865" cy="0"/>
          </a:xfrm>
          <a:prstGeom prst="line">
            <a:avLst/>
          </a:prstGeom>
          <a:ln w="2032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Rounded Rectangle 17443"/>
          <p:cNvSpPr/>
          <p:nvPr/>
        </p:nvSpPr>
        <p:spPr>
          <a:xfrm>
            <a:off x="5468112" y="2267712"/>
            <a:ext cx="1572768" cy="1874519"/>
          </a:xfrm>
          <a:prstGeom prst="roundRect">
            <a:avLst/>
          </a:prstGeom>
          <a:solidFill>
            <a:srgbClr val="EBF7EF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Oval 17444"/>
          <p:cNvSpPr/>
          <p:nvPr/>
        </p:nvSpPr>
        <p:spPr>
          <a:xfrm>
            <a:off x="5568696" y="23774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D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5568696" y="2382012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1D7A46"/>
                </a:solidFill>
                <a:latin typeface="Aptos"/>
              </a:rPr>
              <a:t>04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5586983" y="2816352"/>
            <a:ext cx="13441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0" b="1" i="0">
                <a:solidFill>
                  <a:srgbClr val="132E46"/>
                </a:solidFill>
                <a:latin typeface="Aptos"/>
              </a:rPr>
              <a:t>VERIFY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5596128" y="3255264"/>
            <a:ext cx="131673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1B242C"/>
                </a:solidFill>
                <a:latin typeface="Aptos"/>
              </a:rPr>
              <a:t>Natural / artificial context</a:t>
            </a:r>
          </a:p>
        </p:txBody>
      </p:sp>
      <p:cxnSp>
        <p:nvCxnSpPr>
          <p:cNvPr id="17449" name="Connector 17448"/>
          <p:cNvCxnSpPr/>
          <p:nvPr/>
        </p:nvCxnSpPr>
        <p:spPr>
          <a:xfrm>
            <a:off x="7050023" y="3200400"/>
            <a:ext cx="54865" cy="0"/>
          </a:xfrm>
          <a:prstGeom prst="line">
            <a:avLst/>
          </a:prstGeom>
          <a:ln w="2032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0" name="Rounded Rectangle 17449"/>
          <p:cNvSpPr/>
          <p:nvPr/>
        </p:nvSpPr>
        <p:spPr>
          <a:xfrm>
            <a:off x="7123176" y="2267712"/>
            <a:ext cx="1572768" cy="1874519"/>
          </a:xfrm>
          <a:prstGeom prst="roundRect">
            <a:avLst/>
          </a:prstGeom>
          <a:solidFill>
            <a:srgbClr val="EFEEFA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1" name="Oval 17450"/>
          <p:cNvSpPr/>
          <p:nvPr/>
        </p:nvSpPr>
        <p:spPr>
          <a:xfrm>
            <a:off x="7223760" y="23774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705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TextBox 17451"/>
          <p:cNvSpPr txBox="1"/>
          <p:nvPr/>
        </p:nvSpPr>
        <p:spPr>
          <a:xfrm>
            <a:off x="7223760" y="2382012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7051A5"/>
                </a:solidFill>
                <a:latin typeface="Aptos"/>
              </a:rPr>
              <a:t>05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7242048" y="2816352"/>
            <a:ext cx="13441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0" b="1" i="0">
                <a:solidFill>
                  <a:srgbClr val="132E46"/>
                </a:solidFill>
                <a:latin typeface="Aptos"/>
              </a:rPr>
              <a:t>TRUST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7251192" y="3255264"/>
            <a:ext cx="131673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1B242C"/>
                </a:solidFill>
                <a:latin typeface="Aptos"/>
              </a:rPr>
              <a:t>Confidence + uncertainty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8705088" y="3200400"/>
            <a:ext cx="54864" cy="0"/>
          </a:xfrm>
          <a:prstGeom prst="line">
            <a:avLst/>
          </a:prstGeom>
          <a:ln w="2032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Rounded Rectangle 17455"/>
          <p:cNvSpPr/>
          <p:nvPr/>
        </p:nvSpPr>
        <p:spPr>
          <a:xfrm>
            <a:off x="8778240" y="2267712"/>
            <a:ext cx="1572768" cy="1874519"/>
          </a:xfrm>
          <a:prstGeom prst="roundRect">
            <a:avLst/>
          </a:prstGeom>
          <a:solidFill>
            <a:srgbClr val="E7F2FA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Oval 17456"/>
          <p:cNvSpPr/>
          <p:nvPr/>
        </p:nvSpPr>
        <p:spPr>
          <a:xfrm>
            <a:off x="8878824" y="23774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8" name="TextBox 17457"/>
          <p:cNvSpPr txBox="1"/>
          <p:nvPr/>
        </p:nvSpPr>
        <p:spPr>
          <a:xfrm>
            <a:off x="8878824" y="2382012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0070C0"/>
                </a:solidFill>
                <a:latin typeface="Aptos"/>
              </a:rPr>
              <a:t>06</a:t>
            </a:r>
          </a:p>
        </p:txBody>
      </p:sp>
      <p:sp>
        <p:nvSpPr>
          <p:cNvPr id="17459" name="TextBox 17458"/>
          <p:cNvSpPr txBox="1"/>
          <p:nvPr/>
        </p:nvSpPr>
        <p:spPr>
          <a:xfrm>
            <a:off x="8897112" y="2816352"/>
            <a:ext cx="13441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0" b="1" i="0">
                <a:solidFill>
                  <a:srgbClr val="132E46"/>
                </a:solidFill>
                <a:latin typeface="Aptos"/>
              </a:rPr>
              <a:t>GEO / GIS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8906256" y="3255264"/>
            <a:ext cx="131673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1B242C"/>
                </a:solidFill>
                <a:latin typeface="Aptos"/>
              </a:rPr>
              <a:t>Lat/Lon + dimensions + map</a:t>
            </a:r>
          </a:p>
        </p:txBody>
      </p:sp>
      <p:cxnSp>
        <p:nvCxnSpPr>
          <p:cNvPr id="17461" name="Connector 17460"/>
          <p:cNvCxnSpPr/>
          <p:nvPr/>
        </p:nvCxnSpPr>
        <p:spPr>
          <a:xfrm>
            <a:off x="10360152" y="3200400"/>
            <a:ext cx="54864" cy="0"/>
          </a:xfrm>
          <a:prstGeom prst="line">
            <a:avLst/>
          </a:prstGeom>
          <a:ln w="2032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2" name="Rounded Rectangle 17461"/>
          <p:cNvSpPr/>
          <p:nvPr/>
        </p:nvSpPr>
        <p:spPr>
          <a:xfrm>
            <a:off x="10433304" y="2267712"/>
            <a:ext cx="1572768" cy="1874519"/>
          </a:xfrm>
          <a:prstGeom prst="roundRect">
            <a:avLst/>
          </a:prstGeom>
          <a:solidFill>
            <a:srgbClr val="EBF7EF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3" name="Oval 17462"/>
          <p:cNvSpPr/>
          <p:nvPr/>
        </p:nvSpPr>
        <p:spPr>
          <a:xfrm>
            <a:off x="10533888" y="23774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D7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4" name="TextBox 17463"/>
          <p:cNvSpPr txBox="1"/>
          <p:nvPr/>
        </p:nvSpPr>
        <p:spPr>
          <a:xfrm>
            <a:off x="10533888" y="2382012"/>
            <a:ext cx="329184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1D7A46"/>
                </a:solidFill>
                <a:latin typeface="Aptos"/>
              </a:rPr>
              <a:t>07</a:t>
            </a:r>
          </a:p>
        </p:txBody>
      </p:sp>
      <p:sp>
        <p:nvSpPr>
          <p:cNvPr id="17465" name="TextBox 17464"/>
          <p:cNvSpPr txBox="1"/>
          <p:nvPr/>
        </p:nvSpPr>
        <p:spPr>
          <a:xfrm>
            <a:off x="10552176" y="2816352"/>
            <a:ext cx="13441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0" b="1" i="0">
                <a:solidFill>
                  <a:srgbClr val="132E46"/>
                </a:solidFill>
                <a:latin typeface="Aptos"/>
              </a:rPr>
              <a:t>REPORT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10561319" y="3255264"/>
            <a:ext cx="1316736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1B242C"/>
                </a:solidFill>
                <a:latin typeface="Aptos"/>
              </a:rPr>
              <a:t>Priority + JSON / CSV</a:t>
            </a:r>
          </a:p>
        </p:txBody>
      </p:sp>
      <p:sp>
        <p:nvSpPr>
          <p:cNvPr id="17467" name="Rounded Rectangle 17466"/>
          <p:cNvSpPr/>
          <p:nvPr/>
        </p:nvSpPr>
        <p:spPr>
          <a:xfrm>
            <a:off x="566928" y="4480560"/>
            <a:ext cx="11027664" cy="1161288"/>
          </a:xfrm>
          <a:prstGeom prst="roundRect">
            <a:avLst/>
          </a:prstGeom>
          <a:solidFill>
            <a:srgbClr val="F4F8FB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TextBox 17467"/>
          <p:cNvSpPr txBox="1"/>
          <p:nvPr/>
        </p:nvSpPr>
        <p:spPr>
          <a:xfrm>
            <a:off x="786384" y="4663440"/>
            <a:ext cx="11887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56636F"/>
                </a:solidFill>
                <a:latin typeface="Aptos"/>
              </a:rPr>
              <a:t>AI OUTPUT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1865376" y="4617720"/>
            <a:ext cx="1947672" cy="6675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69" b="1" i="0">
                <a:solidFill>
                  <a:srgbClr val="224B76"/>
                </a:solidFill>
                <a:latin typeface="Aptos"/>
              </a:rPr>
              <a:t>CLASS
</a:t>
            </a:r>
            <a:r>
              <a:rPr sz="850" b="0" i="0">
                <a:solidFill>
                  <a:srgbClr val="1B242C"/>
                </a:solidFill>
                <a:latin typeface="Aptos"/>
              </a:rPr>
              <a:t>ghost net / wreck / pipe / aircraft / debris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3922776" y="4617720"/>
            <a:ext cx="1947672" cy="6675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69" b="1" i="0">
                <a:solidFill>
                  <a:srgbClr val="224B76"/>
                </a:solidFill>
                <a:latin typeface="Aptos"/>
              </a:rPr>
              <a:t>TRUST
</a:t>
            </a:r>
            <a:r>
              <a:rPr sz="850" b="0" i="0">
                <a:solidFill>
                  <a:srgbClr val="1B242C"/>
                </a:solidFill>
                <a:latin typeface="Aptos"/>
              </a:rPr>
              <a:t>confidence + uncertainty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5980176" y="4617720"/>
            <a:ext cx="1947672" cy="6675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69" b="1" i="0">
                <a:solidFill>
                  <a:srgbClr val="224B76"/>
                </a:solidFill>
                <a:latin typeface="Aptos"/>
              </a:rPr>
              <a:t>LOCATION
</a:t>
            </a:r>
            <a:r>
              <a:rPr sz="850" b="0" i="0">
                <a:solidFill>
                  <a:srgbClr val="1B242C"/>
                </a:solidFill>
                <a:latin typeface="Aptos"/>
              </a:rPr>
              <a:t>latitude / longitude / map point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8037575" y="4617720"/>
            <a:ext cx="1947672" cy="6675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69" b="1" i="0">
                <a:solidFill>
                  <a:srgbClr val="224B76"/>
                </a:solidFill>
                <a:latin typeface="Aptos"/>
              </a:rPr>
              <a:t>SIZE
</a:t>
            </a:r>
            <a:r>
              <a:rPr sz="850" b="0" i="0">
                <a:solidFill>
                  <a:srgbClr val="1B242C"/>
                </a:solidFill>
                <a:latin typeface="Aptos"/>
              </a:rPr>
              <a:t>bounding dimensions / region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10094976" y="4617720"/>
            <a:ext cx="1947672" cy="6675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/>
            <a:r>
              <a:rPr sz="869" b="1" i="0">
                <a:solidFill>
                  <a:srgbClr val="224B76"/>
                </a:solidFill>
                <a:latin typeface="Aptos"/>
              </a:rPr>
              <a:t>HANDOFF
</a:t>
            </a:r>
            <a:r>
              <a:rPr sz="850" b="0" i="0">
                <a:solidFill>
                  <a:srgbClr val="1B242C"/>
                </a:solidFill>
                <a:latin typeface="Aptos"/>
              </a:rPr>
              <a:t>priority + JSON / CSV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621792" y="5833872"/>
            <a:ext cx="1093622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 i="0">
                <a:solidFill>
                  <a:srgbClr val="132E46"/>
                </a:solidFill>
                <a:latin typeface="Aptos"/>
              </a:rPr>
              <a:t>Design principle: detect broadly → verify contextually → report operationally</a:t>
            </a:r>
          </a:p>
        </p:txBody>
      </p:sp>
      <p:sp>
        <p:nvSpPr>
          <p:cNvPr id="17475" name="TextBox 17474"/>
          <p:cNvSpPr txBox="1"/>
          <p:nvPr/>
        </p:nvSpPr>
        <p:spPr>
          <a:xfrm>
            <a:off x="484632" y="6190488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 i="0">
                <a:solidFill>
                  <a:srgbClr val="56636F"/>
                </a:solidFill>
                <a:latin typeface="Aptos"/>
              </a:rPr>
              <a:t>GHOSTNET-AI  •  SIH26057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7051A5"/>
                </a:solidFill>
                <a:latin typeface="Aptos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75488" y="1234440"/>
            <a:ext cx="110642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4B76"/>
                </a:solidFill>
                <a:latin typeface="Aptos"/>
              </a:rPr>
              <a:t>Feasible MVP path: public research data → transfer learning → lightweight deployment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66928" y="1682496"/>
            <a:ext cx="3200400" cy="1975104"/>
          </a:xfrm>
          <a:prstGeom prst="roundRect">
            <a:avLst/>
          </a:prstGeom>
          <a:solidFill>
            <a:srgbClr val="E7F2FA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731520" y="1874519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2E46"/>
                </a:solidFill>
                <a:latin typeface="Aptos"/>
              </a:rPr>
              <a:t>DATA READY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749808" y="2286000"/>
            <a:ext cx="2798064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0">
                <a:solidFill>
                  <a:srgbClr val="1B242C"/>
                </a:solidFill>
                <a:latin typeface="Aptos"/>
              </a:rPr>
              <a:t>Public SSS + research datasets
Hard negatives for rocks/shadows/noise
Metadata + survey-aware splits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041648" y="1682496"/>
            <a:ext cx="3200400" cy="1975104"/>
          </a:xfrm>
          <a:prstGeom prst="roundRect">
            <a:avLst/>
          </a:prstGeom>
          <a:solidFill>
            <a:srgbClr val="EBF7EF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4206240" y="1874519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2E46"/>
                </a:solidFill>
                <a:latin typeface="Aptos"/>
              </a:rPr>
              <a:t>MODEL READY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224528" y="2286000"/>
            <a:ext cx="2798064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0">
                <a:solidFill>
                  <a:srgbClr val="1B242C"/>
                </a:solidFill>
                <a:latin typeface="Aptos"/>
              </a:rPr>
              <a:t>Transfer learning
YOLO11 baseline → refined model
Verifier + confidence calibration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7516368" y="1682496"/>
            <a:ext cx="3200400" cy="1975104"/>
          </a:xfrm>
          <a:prstGeom prst="roundRect">
            <a:avLst/>
          </a:prstGeom>
          <a:solidFill>
            <a:srgbClr val="E8F7F6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7680960" y="1874519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2E46"/>
                </a:solidFill>
                <a:latin typeface="Aptos"/>
              </a:rPr>
              <a:t>DEPLOYABLE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7699248" y="2286000"/>
            <a:ext cx="2798064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60" b="0" i="0">
                <a:solidFill>
                  <a:srgbClr val="1B242C"/>
                </a:solidFill>
                <a:latin typeface="Aptos"/>
              </a:rPr>
              <a:t>FastAPI inference service
PostGIS + map dashboard
ONNX / Docker / edge path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566928" y="3867912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6636F"/>
                </a:solidFill>
                <a:latin typeface="Aptos"/>
              </a:rPr>
              <a:t>KEY CHALLENGES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7516368" y="3867912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6636F"/>
                </a:solidFill>
                <a:latin typeface="Aptos"/>
              </a:rPr>
              <a:t>MITIGATION STRATEGY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66928" y="4187952"/>
            <a:ext cx="6565392" cy="4206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713232" y="4215384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0070C0"/>
                </a:solidFill>
                <a:latin typeface="Aptos"/>
              </a:rPr>
              <a:t>R1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1143000" y="4197096"/>
            <a:ext cx="25146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32E46"/>
                </a:solidFill>
                <a:latin typeface="Aptos"/>
              </a:rPr>
              <a:t>Natural seabed looks like debris</a:t>
            </a:r>
          </a:p>
        </p:txBody>
      </p:sp>
      <p:cxnSp>
        <p:nvCxnSpPr>
          <p:cNvPr id="17425" name="Connector 17424"/>
          <p:cNvCxnSpPr/>
          <p:nvPr/>
        </p:nvCxnSpPr>
        <p:spPr>
          <a:xfrm>
            <a:off x="3730752" y="4398264"/>
            <a:ext cx="429768" cy="0"/>
          </a:xfrm>
          <a:prstGeom prst="line">
            <a:avLst/>
          </a:prstGeom>
          <a:ln w="1905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6" name="TextBox 17425"/>
          <p:cNvSpPr txBox="1"/>
          <p:nvPr/>
        </p:nvSpPr>
        <p:spPr>
          <a:xfrm>
            <a:off x="4224528" y="4197096"/>
            <a:ext cx="267004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B242C"/>
                </a:solidFill>
                <a:latin typeface="Aptos"/>
              </a:rPr>
              <a:t>Hard negatives + natural/artificial verifier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566928" y="4681728"/>
            <a:ext cx="6565392" cy="4206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713232" y="4709160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0070C0"/>
                </a:solidFill>
                <a:latin typeface="Aptos"/>
              </a:rPr>
              <a:t>R2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143000" y="4690872"/>
            <a:ext cx="25146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32E46"/>
                </a:solidFill>
                <a:latin typeface="Aptos"/>
              </a:rPr>
              <a:t>Speckle / shadows / sensor variation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3730752" y="4892040"/>
            <a:ext cx="429768" cy="0"/>
          </a:xfrm>
          <a:prstGeom prst="line">
            <a:avLst/>
          </a:prstGeom>
          <a:ln w="1905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TextBox 17430"/>
          <p:cNvSpPr txBox="1"/>
          <p:nvPr/>
        </p:nvSpPr>
        <p:spPr>
          <a:xfrm>
            <a:off x="4224528" y="4690872"/>
            <a:ext cx="267004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B242C"/>
                </a:solidFill>
                <a:latin typeface="Aptos"/>
              </a:rPr>
              <a:t>Augmentation + normalization + context features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566928" y="5175504"/>
            <a:ext cx="6565392" cy="4206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713232" y="5202936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0070C0"/>
                </a:solidFill>
                <a:latin typeface="Aptos"/>
              </a:rPr>
              <a:t>R3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1143000" y="5184648"/>
            <a:ext cx="25146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32E46"/>
                </a:solidFill>
                <a:latin typeface="Aptos"/>
              </a:rPr>
              <a:t>Adjacent frames leak into train/test</a:t>
            </a:r>
          </a:p>
        </p:txBody>
      </p:sp>
      <p:cxnSp>
        <p:nvCxnSpPr>
          <p:cNvPr id="17435" name="Connector 17434"/>
          <p:cNvCxnSpPr/>
          <p:nvPr/>
        </p:nvCxnSpPr>
        <p:spPr>
          <a:xfrm>
            <a:off x="3730752" y="5385816"/>
            <a:ext cx="429768" cy="0"/>
          </a:xfrm>
          <a:prstGeom prst="line">
            <a:avLst/>
          </a:prstGeom>
          <a:ln w="1905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6" name="TextBox 17435"/>
          <p:cNvSpPr txBox="1"/>
          <p:nvPr/>
        </p:nvSpPr>
        <p:spPr>
          <a:xfrm>
            <a:off x="4224528" y="5184648"/>
            <a:ext cx="267004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B242C"/>
                </a:solidFill>
                <a:latin typeface="Aptos"/>
              </a:rPr>
              <a:t>Survey/location-based split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566928" y="5669280"/>
            <a:ext cx="6565392" cy="420624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713232" y="5696712"/>
            <a:ext cx="347472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 i="0">
                <a:solidFill>
                  <a:srgbClr val="0070C0"/>
                </a:solidFill>
                <a:latin typeface="Aptos"/>
              </a:rPr>
              <a:t>R4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143000" y="5678424"/>
            <a:ext cx="25146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132E46"/>
                </a:solidFill>
                <a:latin typeface="Aptos"/>
              </a:rPr>
              <a:t>Limited labelled ghost-net examples</a:t>
            </a:r>
          </a:p>
        </p:txBody>
      </p:sp>
      <p:cxnSp>
        <p:nvCxnSpPr>
          <p:cNvPr id="17440" name="Connector 17439"/>
          <p:cNvCxnSpPr/>
          <p:nvPr/>
        </p:nvCxnSpPr>
        <p:spPr>
          <a:xfrm>
            <a:off x="3730752" y="5879592"/>
            <a:ext cx="429768" cy="0"/>
          </a:xfrm>
          <a:prstGeom prst="line">
            <a:avLst/>
          </a:prstGeom>
          <a:ln w="1905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1" name="TextBox 17440"/>
          <p:cNvSpPr txBox="1"/>
          <p:nvPr/>
        </p:nvSpPr>
        <p:spPr>
          <a:xfrm>
            <a:off x="4224528" y="5678424"/>
            <a:ext cx="267004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0" i="0">
                <a:solidFill>
                  <a:srgbClr val="1B242C"/>
                </a:solidFill>
                <a:latin typeface="Aptos"/>
              </a:rPr>
              <a:t>Transfer learning + active-learning loop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7516368" y="4187952"/>
            <a:ext cx="4078224" cy="1956816"/>
          </a:xfrm>
          <a:prstGeom prst="roundRect">
            <a:avLst/>
          </a:prstGeom>
          <a:solidFill>
            <a:srgbClr val="F4F8FB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7754112" y="4370832"/>
            <a:ext cx="36118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132E46"/>
                </a:solidFill>
                <a:latin typeface="Aptos"/>
              </a:rPr>
              <a:t>MVP → FIELD-READY PATH</a:t>
            </a:r>
          </a:p>
        </p:txBody>
      </p:sp>
      <p:sp>
        <p:nvSpPr>
          <p:cNvPr id="17444" name="Oval 17443"/>
          <p:cNvSpPr/>
          <p:nvPr/>
        </p:nvSpPr>
        <p:spPr>
          <a:xfrm>
            <a:off x="7790688" y="487375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7790688" y="4892040"/>
            <a:ext cx="438912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070C0"/>
                </a:solidFill>
                <a:latin typeface="Aptos"/>
              </a:rPr>
              <a:t>01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7763256" y="533095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56636F"/>
                </a:solidFill>
                <a:latin typeface="Aptos"/>
              </a:rPr>
              <a:t>Train</a:t>
            </a:r>
          </a:p>
        </p:txBody>
      </p:sp>
      <p:cxnSp>
        <p:nvCxnSpPr>
          <p:cNvPr id="17447" name="Connector 17446"/>
          <p:cNvCxnSpPr/>
          <p:nvPr/>
        </p:nvCxnSpPr>
        <p:spPr>
          <a:xfrm>
            <a:off x="8247888" y="5093208"/>
            <a:ext cx="228600" cy="0"/>
          </a:xfrm>
          <a:prstGeom prst="line">
            <a:avLst/>
          </a:prstGeom>
          <a:ln w="1778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8" name="Oval 17447"/>
          <p:cNvSpPr/>
          <p:nvPr/>
        </p:nvSpPr>
        <p:spPr>
          <a:xfrm>
            <a:off x="8503919" y="487375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8503919" y="4892040"/>
            <a:ext cx="438912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070C0"/>
                </a:solidFill>
                <a:latin typeface="Aptos"/>
              </a:rPr>
              <a:t>02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8476488" y="533095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56636F"/>
                </a:solidFill>
                <a:latin typeface="Aptos"/>
              </a:rPr>
              <a:t>Validate</a:t>
            </a:r>
          </a:p>
        </p:txBody>
      </p:sp>
      <p:cxnSp>
        <p:nvCxnSpPr>
          <p:cNvPr id="17451" name="Connector 17450"/>
          <p:cNvCxnSpPr/>
          <p:nvPr/>
        </p:nvCxnSpPr>
        <p:spPr>
          <a:xfrm>
            <a:off x="8961119" y="5093208"/>
            <a:ext cx="228600" cy="0"/>
          </a:xfrm>
          <a:prstGeom prst="line">
            <a:avLst/>
          </a:prstGeom>
          <a:ln w="1778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2" name="Oval 17451"/>
          <p:cNvSpPr/>
          <p:nvPr/>
        </p:nvSpPr>
        <p:spPr>
          <a:xfrm>
            <a:off x="9217151" y="487375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9217151" y="4892040"/>
            <a:ext cx="438912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070C0"/>
                </a:solidFill>
                <a:latin typeface="Aptos"/>
              </a:rPr>
              <a:t>03</a:t>
            </a:r>
          </a:p>
        </p:txBody>
      </p:sp>
      <p:sp>
        <p:nvSpPr>
          <p:cNvPr id="17454" name="TextBox 17453"/>
          <p:cNvSpPr txBox="1"/>
          <p:nvPr/>
        </p:nvSpPr>
        <p:spPr>
          <a:xfrm>
            <a:off x="9189719" y="533095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56636F"/>
                </a:solidFill>
                <a:latin typeface="Aptos"/>
              </a:rPr>
              <a:t>Serve</a:t>
            </a:r>
          </a:p>
        </p:txBody>
      </p:sp>
      <p:cxnSp>
        <p:nvCxnSpPr>
          <p:cNvPr id="17455" name="Connector 17454"/>
          <p:cNvCxnSpPr/>
          <p:nvPr/>
        </p:nvCxnSpPr>
        <p:spPr>
          <a:xfrm>
            <a:off x="9674351" y="5093208"/>
            <a:ext cx="228600" cy="0"/>
          </a:xfrm>
          <a:prstGeom prst="line">
            <a:avLst/>
          </a:prstGeom>
          <a:ln w="1778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6" name="Oval 17455"/>
          <p:cNvSpPr/>
          <p:nvPr/>
        </p:nvSpPr>
        <p:spPr>
          <a:xfrm>
            <a:off x="9930383" y="487375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TextBox 17456"/>
          <p:cNvSpPr txBox="1"/>
          <p:nvPr/>
        </p:nvSpPr>
        <p:spPr>
          <a:xfrm>
            <a:off x="9930383" y="4892040"/>
            <a:ext cx="438912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070C0"/>
                </a:solidFill>
                <a:latin typeface="Aptos"/>
              </a:rPr>
              <a:t>04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9902951" y="533095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56636F"/>
                </a:solidFill>
                <a:latin typeface="Aptos"/>
              </a:rPr>
              <a:t>Map</a:t>
            </a:r>
          </a:p>
        </p:txBody>
      </p:sp>
      <p:cxnSp>
        <p:nvCxnSpPr>
          <p:cNvPr id="17459" name="Connector 17458"/>
          <p:cNvCxnSpPr/>
          <p:nvPr/>
        </p:nvCxnSpPr>
        <p:spPr>
          <a:xfrm>
            <a:off x="10387583" y="5093208"/>
            <a:ext cx="228600" cy="0"/>
          </a:xfrm>
          <a:prstGeom prst="line">
            <a:avLst/>
          </a:prstGeom>
          <a:ln w="1778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0" name="Oval 17459"/>
          <p:cNvSpPr/>
          <p:nvPr/>
        </p:nvSpPr>
        <p:spPr>
          <a:xfrm>
            <a:off x="10643615" y="487375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TextBox 17460"/>
          <p:cNvSpPr txBox="1"/>
          <p:nvPr/>
        </p:nvSpPr>
        <p:spPr>
          <a:xfrm>
            <a:off x="10643615" y="4892040"/>
            <a:ext cx="438912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070C0"/>
                </a:solidFill>
                <a:latin typeface="Aptos"/>
              </a:rPr>
              <a:t>05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10616183" y="5330952"/>
            <a:ext cx="5029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80" b="1" i="0">
                <a:solidFill>
                  <a:srgbClr val="56636F"/>
                </a:solidFill>
                <a:latin typeface="Aptos"/>
              </a:rPr>
              <a:t>Review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7772400" y="5760720"/>
            <a:ext cx="3566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9" b="0" i="0">
                <a:solidFill>
                  <a:srgbClr val="56636F"/>
                </a:solidFill>
                <a:latin typeface="Aptos"/>
              </a:rPr>
              <a:t>Human review remains the final operational check.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484632" y="6190488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 i="0">
                <a:solidFill>
                  <a:srgbClr val="56636F"/>
                </a:solidFill>
                <a:latin typeface="Aptos"/>
              </a:rPr>
              <a:t>GHOSTNET-AI  •  SIH26057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7051A5"/>
                </a:solidFill>
                <a:latin typeface="Aptos"/>
              </a:rPr>
              <a:t>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75488" y="1234440"/>
            <a:ext cx="110642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4B76"/>
                </a:solidFill>
                <a:latin typeface="Aptos"/>
              </a:rPr>
              <a:t>A detection becomes useful only when it is trusted, located and actionable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66928" y="1700784"/>
            <a:ext cx="3767328" cy="4352544"/>
          </a:xfrm>
          <a:prstGeom prst="roundRect">
            <a:avLst/>
          </a:prstGeom>
          <a:solidFill>
            <a:srgbClr val="F4F8FB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TextBox 17411"/>
          <p:cNvSpPr txBox="1"/>
          <p:nvPr/>
        </p:nvSpPr>
        <p:spPr>
          <a:xfrm>
            <a:off x="804672" y="1883664"/>
            <a:ext cx="329184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132E46"/>
                </a:solidFill>
                <a:latin typeface="Aptos"/>
              </a:rPr>
              <a:t>OPERATIONAL TRANSFORMATION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841248" y="2359152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0070C0"/>
                </a:solidFill>
                <a:latin typeface="Aptos"/>
              </a:rPr>
              <a:t>RAW SONAR</a:t>
            </a:r>
          </a:p>
        </p:txBody>
      </p:sp>
      <p:cxnSp>
        <p:nvCxnSpPr>
          <p:cNvPr id="17414" name="Connector 17413"/>
          <p:cNvCxnSpPr/>
          <p:nvPr/>
        </p:nvCxnSpPr>
        <p:spPr>
          <a:xfrm>
            <a:off x="2331720" y="2478024"/>
            <a:ext cx="301752" cy="0"/>
          </a:xfrm>
          <a:prstGeom prst="line">
            <a:avLst/>
          </a:prstGeom>
          <a:ln w="1778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5" name="TextBox 17414"/>
          <p:cNvSpPr txBox="1"/>
          <p:nvPr/>
        </p:nvSpPr>
        <p:spPr>
          <a:xfrm>
            <a:off x="2697480" y="2359152"/>
            <a:ext cx="1298448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>
                <a:solidFill>
                  <a:srgbClr val="1B242C"/>
                </a:solidFill>
                <a:latin typeface="Aptos"/>
              </a:rPr>
              <a:t>Manual inspection</a:t>
            </a:r>
          </a:p>
        </p:txBody>
      </p:sp>
      <p:cxnSp>
        <p:nvCxnSpPr>
          <p:cNvPr id="17416" name="Connector 17415"/>
          <p:cNvCxnSpPr/>
          <p:nvPr/>
        </p:nvCxnSpPr>
        <p:spPr>
          <a:xfrm>
            <a:off x="2532888" y="2679192"/>
            <a:ext cx="0" cy="173736"/>
          </a:xfrm>
          <a:prstGeom prst="line">
            <a:avLst/>
          </a:prstGeom>
          <a:ln w="13970">
            <a:solidFill>
              <a:srgbClr val="56636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7" name="TextBox 17416"/>
          <p:cNvSpPr txBox="1"/>
          <p:nvPr/>
        </p:nvSpPr>
        <p:spPr>
          <a:xfrm>
            <a:off x="841248" y="2935224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0070C0"/>
                </a:solidFill>
                <a:latin typeface="Aptos"/>
              </a:rPr>
              <a:t>AI CANDIDATE</a:t>
            </a:r>
          </a:p>
        </p:txBody>
      </p:sp>
      <p:cxnSp>
        <p:nvCxnSpPr>
          <p:cNvPr id="17418" name="Connector 17417"/>
          <p:cNvCxnSpPr/>
          <p:nvPr/>
        </p:nvCxnSpPr>
        <p:spPr>
          <a:xfrm>
            <a:off x="2331720" y="3054096"/>
            <a:ext cx="301752" cy="0"/>
          </a:xfrm>
          <a:prstGeom prst="line">
            <a:avLst/>
          </a:prstGeom>
          <a:ln w="1778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9" name="TextBox 17418"/>
          <p:cNvSpPr txBox="1"/>
          <p:nvPr/>
        </p:nvSpPr>
        <p:spPr>
          <a:xfrm>
            <a:off x="2697480" y="2935224"/>
            <a:ext cx="1298448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>
                <a:solidFill>
                  <a:srgbClr val="1B242C"/>
                </a:solidFill>
                <a:latin typeface="Aptos"/>
              </a:rPr>
              <a:t>Potential target</a:t>
            </a:r>
          </a:p>
        </p:txBody>
      </p:sp>
      <p:cxnSp>
        <p:nvCxnSpPr>
          <p:cNvPr id="17420" name="Connector 17419"/>
          <p:cNvCxnSpPr/>
          <p:nvPr/>
        </p:nvCxnSpPr>
        <p:spPr>
          <a:xfrm>
            <a:off x="2532888" y="3255264"/>
            <a:ext cx="0" cy="173736"/>
          </a:xfrm>
          <a:prstGeom prst="line">
            <a:avLst/>
          </a:prstGeom>
          <a:ln w="13970">
            <a:solidFill>
              <a:srgbClr val="56636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1" name="TextBox 17420"/>
          <p:cNvSpPr txBox="1"/>
          <p:nvPr/>
        </p:nvSpPr>
        <p:spPr>
          <a:xfrm>
            <a:off x="841248" y="3511296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00878B"/>
                </a:solidFill>
                <a:latin typeface="Aptos"/>
              </a:rPr>
              <a:t>VERIFICATION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2331720" y="3630168"/>
            <a:ext cx="301752" cy="0"/>
          </a:xfrm>
          <a:prstGeom prst="line">
            <a:avLst/>
          </a:prstGeom>
          <a:ln w="1778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TextBox 17422"/>
          <p:cNvSpPr txBox="1"/>
          <p:nvPr/>
        </p:nvSpPr>
        <p:spPr>
          <a:xfrm>
            <a:off x="2697480" y="3511296"/>
            <a:ext cx="1298448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>
                <a:solidFill>
                  <a:srgbClr val="1B242C"/>
                </a:solidFill>
                <a:latin typeface="Aptos"/>
              </a:rPr>
              <a:t>Natural / artificial</a:t>
            </a:r>
          </a:p>
        </p:txBody>
      </p:sp>
      <p:cxnSp>
        <p:nvCxnSpPr>
          <p:cNvPr id="17424" name="Connector 17423"/>
          <p:cNvCxnSpPr/>
          <p:nvPr/>
        </p:nvCxnSpPr>
        <p:spPr>
          <a:xfrm>
            <a:off x="2532888" y="3831335"/>
            <a:ext cx="0" cy="173737"/>
          </a:xfrm>
          <a:prstGeom prst="line">
            <a:avLst/>
          </a:prstGeom>
          <a:ln w="13970">
            <a:solidFill>
              <a:srgbClr val="56636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5" name="TextBox 17424"/>
          <p:cNvSpPr txBox="1"/>
          <p:nvPr/>
        </p:nvSpPr>
        <p:spPr>
          <a:xfrm>
            <a:off x="841248" y="4087368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00878B"/>
                </a:solidFill>
                <a:latin typeface="Aptos"/>
              </a:rPr>
              <a:t>TRUST SIGNAL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2331720" y="4206240"/>
            <a:ext cx="301752" cy="0"/>
          </a:xfrm>
          <a:prstGeom prst="line">
            <a:avLst/>
          </a:prstGeom>
          <a:ln w="1778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TextBox 17426"/>
          <p:cNvSpPr txBox="1"/>
          <p:nvPr/>
        </p:nvSpPr>
        <p:spPr>
          <a:xfrm>
            <a:off x="2697480" y="4087368"/>
            <a:ext cx="1298448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>
                <a:solidFill>
                  <a:srgbClr val="1B242C"/>
                </a:solidFill>
                <a:latin typeface="Aptos"/>
              </a:rPr>
              <a:t>Confidence / uncertainty</a:t>
            </a:r>
          </a:p>
        </p:txBody>
      </p:sp>
      <p:cxnSp>
        <p:nvCxnSpPr>
          <p:cNvPr id="17428" name="Connector 17427"/>
          <p:cNvCxnSpPr/>
          <p:nvPr/>
        </p:nvCxnSpPr>
        <p:spPr>
          <a:xfrm>
            <a:off x="2532888" y="4407407"/>
            <a:ext cx="0" cy="173737"/>
          </a:xfrm>
          <a:prstGeom prst="line">
            <a:avLst/>
          </a:prstGeom>
          <a:ln w="13970">
            <a:solidFill>
              <a:srgbClr val="56636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9" name="TextBox 17428"/>
          <p:cNvSpPr txBox="1"/>
          <p:nvPr/>
        </p:nvSpPr>
        <p:spPr>
          <a:xfrm>
            <a:off x="841248" y="4663440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D7A46"/>
                </a:solidFill>
                <a:latin typeface="Aptos"/>
              </a:rPr>
              <a:t>GIS RECORD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2331720" y="4782312"/>
            <a:ext cx="301752" cy="0"/>
          </a:xfrm>
          <a:prstGeom prst="line">
            <a:avLst/>
          </a:prstGeom>
          <a:ln w="1778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TextBox 17430"/>
          <p:cNvSpPr txBox="1"/>
          <p:nvPr/>
        </p:nvSpPr>
        <p:spPr>
          <a:xfrm>
            <a:off x="2697480" y="4663440"/>
            <a:ext cx="1298448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>
                <a:solidFill>
                  <a:srgbClr val="1B242C"/>
                </a:solidFill>
                <a:latin typeface="Aptos"/>
              </a:rPr>
              <a:t>Lat/Lon + dimensions</a:t>
            </a:r>
          </a:p>
        </p:txBody>
      </p:sp>
      <p:cxnSp>
        <p:nvCxnSpPr>
          <p:cNvPr id="17432" name="Connector 17431"/>
          <p:cNvCxnSpPr/>
          <p:nvPr/>
        </p:nvCxnSpPr>
        <p:spPr>
          <a:xfrm>
            <a:off x="2532888" y="4983479"/>
            <a:ext cx="0" cy="173737"/>
          </a:xfrm>
          <a:prstGeom prst="line">
            <a:avLst/>
          </a:prstGeom>
          <a:ln w="13970">
            <a:solidFill>
              <a:srgbClr val="56636F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3" name="TextBox 17432"/>
          <p:cNvSpPr txBox="1"/>
          <p:nvPr/>
        </p:nvSpPr>
        <p:spPr>
          <a:xfrm>
            <a:off x="841248" y="5239512"/>
            <a:ext cx="146304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 i="0">
                <a:solidFill>
                  <a:srgbClr val="1D7A46"/>
                </a:solidFill>
                <a:latin typeface="Aptos"/>
              </a:rPr>
              <a:t>ACTION LIST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2331720" y="5358383"/>
            <a:ext cx="301752" cy="0"/>
          </a:xfrm>
          <a:prstGeom prst="line">
            <a:avLst/>
          </a:prstGeom>
          <a:ln w="17780">
            <a:solidFill>
              <a:srgbClr val="0070C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TextBox 17434"/>
          <p:cNvSpPr txBox="1"/>
          <p:nvPr/>
        </p:nvSpPr>
        <p:spPr>
          <a:xfrm>
            <a:off x="2697480" y="5239512"/>
            <a:ext cx="1298448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10" b="1" i="0">
                <a:solidFill>
                  <a:srgbClr val="1B242C"/>
                </a:solidFill>
                <a:latin typeface="Aptos"/>
              </a:rPr>
              <a:t>Priority + export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4608576" y="1700784"/>
            <a:ext cx="3182112" cy="1938528"/>
          </a:xfrm>
          <a:prstGeom prst="roundRect">
            <a:avLst/>
          </a:prstGeom>
          <a:solidFill>
            <a:srgbClr val="E8F7F6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4773168" y="1847088"/>
            <a:ext cx="438912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0878B"/>
                </a:solidFill>
                <a:latin typeface="Aptos"/>
              </a:rPr>
              <a:t>🌊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5321808" y="1847088"/>
            <a:ext cx="221284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32E46"/>
                </a:solidFill>
                <a:latin typeface="Aptos"/>
              </a:rPr>
              <a:t>ENVIRONMENTAL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4773168" y="2340864"/>
            <a:ext cx="2788920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0" i="0">
                <a:solidFill>
                  <a:srgbClr val="1B242C"/>
                </a:solidFill>
                <a:latin typeface="Aptos"/>
              </a:rPr>
              <a:t>Supports detection and recovery of marine debris and ghost gear.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8083296" y="1700784"/>
            <a:ext cx="3182112" cy="1938528"/>
          </a:xfrm>
          <a:prstGeom prst="roundRect">
            <a:avLst/>
          </a:prstGeom>
          <a:solidFill>
            <a:srgbClr val="E7F2FA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8247888" y="1847088"/>
            <a:ext cx="438912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0070C0"/>
                </a:solidFill>
                <a:latin typeface="Aptos"/>
              </a:rPr>
              <a:t>⚙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796528" y="1847088"/>
            <a:ext cx="221284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32E46"/>
                </a:solidFill>
                <a:latin typeface="Aptos"/>
              </a:rPr>
              <a:t>OPERATIONAL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8247888" y="2340864"/>
            <a:ext cx="2788920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0" i="0">
                <a:solidFill>
                  <a:srgbClr val="1B242C"/>
                </a:solidFill>
                <a:latin typeface="Aptos"/>
              </a:rPr>
              <a:t>Reduces repetitive sonar review and organizes candidate targets.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608576" y="3886200"/>
            <a:ext cx="3182112" cy="1938528"/>
          </a:xfrm>
          <a:prstGeom prst="roundRect">
            <a:avLst/>
          </a:prstGeom>
          <a:solidFill>
            <a:srgbClr val="EBF7EF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TextBox 17444"/>
          <p:cNvSpPr txBox="1"/>
          <p:nvPr/>
        </p:nvSpPr>
        <p:spPr>
          <a:xfrm>
            <a:off x="4773168" y="4032504"/>
            <a:ext cx="438912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1D7A46"/>
                </a:solidFill>
                <a:latin typeface="Aptos"/>
              </a:rPr>
              <a:t>⌖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5321808" y="4032504"/>
            <a:ext cx="221284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32E46"/>
                </a:solidFill>
                <a:latin typeface="Aptos"/>
              </a:rPr>
              <a:t>GEO-SPATIAL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4773168" y="4526280"/>
            <a:ext cx="2788920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0" i="0">
                <a:solidFill>
                  <a:srgbClr val="1B242C"/>
                </a:solidFill>
                <a:latin typeface="Aptos"/>
              </a:rPr>
              <a:t>Converts detections into mappable, structured records.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8083296" y="3886200"/>
            <a:ext cx="3182112" cy="1938528"/>
          </a:xfrm>
          <a:prstGeom prst="roundRect">
            <a:avLst/>
          </a:prstGeom>
          <a:solidFill>
            <a:srgbClr val="FCF1E7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TextBox 17448"/>
          <p:cNvSpPr txBox="1"/>
          <p:nvPr/>
        </p:nvSpPr>
        <p:spPr>
          <a:xfrm>
            <a:off x="8247888" y="4032504"/>
            <a:ext cx="438912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E6792D"/>
                </a:solidFill>
                <a:latin typeface="Aptos"/>
              </a:rPr>
              <a:t>↗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8796528" y="4032504"/>
            <a:ext cx="2212848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 i="0">
                <a:solidFill>
                  <a:srgbClr val="132E46"/>
                </a:solidFill>
                <a:latin typeface="Aptos"/>
              </a:rPr>
              <a:t>SCALABLE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8247888" y="4526280"/>
            <a:ext cx="2788920" cy="9418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25" b="0" i="0">
                <a:solidFill>
                  <a:srgbClr val="1B242C"/>
                </a:solidFill>
                <a:latin typeface="Aptos"/>
              </a:rPr>
              <a:t>Designed for API, dashboard, edge and offline deployment paths.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4608576" y="5980176"/>
            <a:ext cx="6656832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60" b="0" i="0">
                <a:solidFill>
                  <a:srgbClr val="56636F"/>
                </a:solidFill>
                <a:latin typeface="Aptos"/>
              </a:rPr>
              <a:t>Target users  •  Marine researchers  •  Survey teams  •  Conservation / recovery crews  •  AUV / ROV operators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484632" y="6190488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 i="0">
                <a:solidFill>
                  <a:srgbClr val="56636F"/>
                </a:solidFill>
                <a:latin typeface="Aptos"/>
              </a:rPr>
              <a:t>GHOSTNET-AI  •  SIH26057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050" b="1" i="0">
                <a:solidFill>
                  <a:srgbClr val="7051A5"/>
                </a:solidFill>
                <a:latin typeface="Aptos"/>
              </a:rPr>
              <a:t>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75488" y="1234440"/>
            <a:ext cx="1106424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4B76"/>
                </a:solidFill>
                <a:latin typeface="Aptos"/>
              </a:rPr>
              <a:t>Evidence base for sonar vision, ghost-gear detection and underwater target recognition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566928" y="1737360"/>
            <a:ext cx="521208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Oval 17411"/>
          <p:cNvSpPr/>
          <p:nvPr/>
        </p:nvSpPr>
        <p:spPr>
          <a:xfrm>
            <a:off x="713232" y="1883664"/>
            <a:ext cx="384048" cy="384048"/>
          </a:xfrm>
          <a:prstGeom prst="ellipse">
            <a:avLst/>
          </a:prstGeom>
          <a:solidFill>
            <a:srgbClr val="E7F2FA"/>
          </a:solidFill>
          <a:ln w="1143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713232" y="1892807"/>
            <a:ext cx="38404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070C0"/>
                </a:solidFill>
                <a:latin typeface="Aptos"/>
              </a:rPr>
              <a:t>01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1188720" y="1856231"/>
            <a:ext cx="437083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32E46"/>
                </a:solidFill>
                <a:latin typeface="Aptos"/>
              </a:rPr>
              <a:t>SIH26057 — Problem Statement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1188720" y="2130552"/>
            <a:ext cx="43708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B242C"/>
                </a:solidFill>
                <a:latin typeface="Aptos"/>
              </a:rPr>
              <a:t>Ministry of Earth Sciences (MoES)
AI-powered SSS marine debris / anomaly detection requirements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188720" y="2468880"/>
            <a:ext cx="437083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6636F"/>
                </a:solidFill>
                <a:latin typeface="Aptos"/>
              </a:rPr>
              <a:t>sih.gov.in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5980176" y="1737360"/>
            <a:ext cx="521208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Oval 17417"/>
          <p:cNvSpPr/>
          <p:nvPr/>
        </p:nvSpPr>
        <p:spPr>
          <a:xfrm>
            <a:off x="6126480" y="1883664"/>
            <a:ext cx="384048" cy="384048"/>
          </a:xfrm>
          <a:prstGeom prst="ellipse">
            <a:avLst/>
          </a:prstGeom>
          <a:solidFill>
            <a:srgbClr val="E7F2FA"/>
          </a:solidFill>
          <a:ln w="1143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6126480" y="1892807"/>
            <a:ext cx="38404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070C0"/>
                </a:solidFill>
                <a:latin typeface="Aptos"/>
              </a:rPr>
              <a:t>02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601968" y="1856231"/>
            <a:ext cx="437083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32E46"/>
                </a:solidFill>
                <a:latin typeface="Aptos"/>
              </a:rPr>
              <a:t>GhostNetZero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6601968" y="2130552"/>
            <a:ext cx="43708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B242C"/>
                </a:solidFill>
                <a:latin typeface="Aptos"/>
              </a:rPr>
              <a:t>Annotated ghost-net sonar segments and segmentation research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6601968" y="2468880"/>
            <a:ext cx="437083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6636F"/>
                </a:solidFill>
                <a:latin typeface="Aptos"/>
              </a:rPr>
              <a:t>ghostnetzero.ai / EcoEvoRxiv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566928" y="2907792"/>
            <a:ext cx="521208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4" name="Oval 17423"/>
          <p:cNvSpPr/>
          <p:nvPr/>
        </p:nvSpPr>
        <p:spPr>
          <a:xfrm>
            <a:off x="713232" y="3054096"/>
            <a:ext cx="384048" cy="384048"/>
          </a:xfrm>
          <a:prstGeom prst="ellipse">
            <a:avLst/>
          </a:prstGeom>
          <a:solidFill>
            <a:srgbClr val="E7F2FA"/>
          </a:solidFill>
          <a:ln w="1143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713232" y="3063240"/>
            <a:ext cx="38404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070C0"/>
                </a:solidFill>
                <a:latin typeface="Aptos"/>
              </a:rPr>
              <a:t>03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1188720" y="3026664"/>
            <a:ext cx="437083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32E46"/>
                </a:solidFill>
                <a:latin typeface="Aptos"/>
              </a:rPr>
              <a:t>GhostVision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1188720" y="3300984"/>
            <a:ext cx="43708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B242C"/>
                </a:solidFill>
                <a:latin typeface="Aptos"/>
              </a:rPr>
              <a:t>Side-scan sonar crab-pot / ghost-gear detection resources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188720" y="3639312"/>
            <a:ext cx="437083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6636F"/>
                </a:solidFill>
                <a:latin typeface="Aptos"/>
              </a:rPr>
              <a:t>huggingface.co / Zenodo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5980176" y="2907792"/>
            <a:ext cx="521208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Oval 17429"/>
          <p:cNvSpPr/>
          <p:nvPr/>
        </p:nvSpPr>
        <p:spPr>
          <a:xfrm>
            <a:off x="6126480" y="3054096"/>
            <a:ext cx="384048" cy="384048"/>
          </a:xfrm>
          <a:prstGeom prst="ellipse">
            <a:avLst/>
          </a:prstGeom>
          <a:solidFill>
            <a:srgbClr val="E7F2FA"/>
          </a:solidFill>
          <a:ln w="1143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6126480" y="3063240"/>
            <a:ext cx="38404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070C0"/>
                </a:solidFill>
                <a:latin typeface="Aptos"/>
              </a:rPr>
              <a:t>04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601968" y="3026664"/>
            <a:ext cx="437083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32E46"/>
                </a:solidFill>
                <a:latin typeface="Aptos"/>
              </a:rPr>
              <a:t>DFO / CSR Ghost Gear Work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6601968" y="3300984"/>
            <a:ext cx="43708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B242C"/>
                </a:solidFill>
                <a:latin typeface="Aptos"/>
              </a:rPr>
              <a:t>Sonar-based ghost-gear localization and AI detection context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6601968" y="3639312"/>
            <a:ext cx="437083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6636F"/>
                </a:solidFill>
                <a:latin typeface="Aptos"/>
              </a:rPr>
              <a:t>ocds-ai-portal.canadacentral.cloudapp.azure.com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566928" y="4078224"/>
            <a:ext cx="521208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6" name="Oval 17435"/>
          <p:cNvSpPr/>
          <p:nvPr/>
        </p:nvSpPr>
        <p:spPr>
          <a:xfrm>
            <a:off x="713232" y="4224528"/>
            <a:ext cx="384048" cy="384048"/>
          </a:xfrm>
          <a:prstGeom prst="ellipse">
            <a:avLst/>
          </a:prstGeom>
          <a:solidFill>
            <a:srgbClr val="E7F2FA"/>
          </a:solidFill>
          <a:ln w="1143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713232" y="4233672"/>
            <a:ext cx="38404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070C0"/>
                </a:solidFill>
                <a:latin typeface="Aptos"/>
              </a:rPr>
              <a:t>05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1188720" y="4197096"/>
            <a:ext cx="437083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32E46"/>
                </a:solidFill>
                <a:latin typeface="Aptos"/>
              </a:rPr>
              <a:t>SeabedObjects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1188720" y="4471416"/>
            <a:ext cx="43708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B242C"/>
                </a:solidFill>
                <a:latin typeface="Aptos"/>
              </a:rPr>
              <a:t>Side-scan sonar ship + airplane target imagery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1188720" y="4809744"/>
            <a:ext cx="437083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6636F"/>
                </a:solidFill>
                <a:latin typeface="Aptos"/>
              </a:rPr>
              <a:t>github.com/huoguanying/SeabedObjects-Ship-and-Airplane-dataset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5980176" y="4078224"/>
            <a:ext cx="5212080" cy="1005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2" name="Oval 17441"/>
          <p:cNvSpPr/>
          <p:nvPr/>
        </p:nvSpPr>
        <p:spPr>
          <a:xfrm>
            <a:off x="6126480" y="4224528"/>
            <a:ext cx="384048" cy="384048"/>
          </a:xfrm>
          <a:prstGeom prst="ellipse">
            <a:avLst/>
          </a:prstGeom>
          <a:solidFill>
            <a:srgbClr val="E7F2FA"/>
          </a:solidFill>
          <a:ln w="1143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6126480" y="4233672"/>
            <a:ext cx="384048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070C0"/>
                </a:solidFill>
                <a:latin typeface="Aptos"/>
              </a:rPr>
              <a:t>06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601968" y="4197096"/>
            <a:ext cx="4370832" cy="2468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32E46"/>
                </a:solidFill>
                <a:latin typeface="Aptos"/>
              </a:rPr>
              <a:t>Research pipeline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6601968" y="4471416"/>
            <a:ext cx="437083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0" b="0" i="0">
                <a:solidFill>
                  <a:srgbClr val="1B242C"/>
                </a:solidFill>
                <a:latin typeface="Aptos"/>
              </a:rPr>
              <a:t>YOLO-family detection • EfficientNet-style verification • PostGIS mapping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6601968" y="4809744"/>
            <a:ext cx="4370832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56636F"/>
                </a:solidFill>
                <a:latin typeface="Aptos"/>
              </a:rPr>
              <a:t>Model / platform references used for implementation planning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566928" y="5394960"/>
            <a:ext cx="10625328" cy="640080"/>
          </a:xfrm>
          <a:prstGeom prst="roundRect">
            <a:avLst/>
          </a:prstGeom>
          <a:solidFill>
            <a:srgbClr val="F4F8FB"/>
          </a:solidFill>
          <a:ln w="13970">
            <a:solidFill>
              <a:srgbClr val="D6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TextBox 17447"/>
          <p:cNvSpPr txBox="1"/>
          <p:nvPr/>
        </p:nvSpPr>
        <p:spPr>
          <a:xfrm>
            <a:off x="749808" y="5532120"/>
            <a:ext cx="214884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32E46"/>
                </a:solidFill>
                <a:latin typeface="Aptos"/>
              </a:rPr>
              <a:t>RESEARCH → BUILD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2788920" y="5532120"/>
            <a:ext cx="815644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90" b="1" i="0">
                <a:solidFill>
                  <a:srgbClr val="224B76"/>
                </a:solidFill>
                <a:latin typeface="Aptos"/>
              </a:rPr>
              <a:t>Dataset audit → hard negatives → model baseline → verification → geotagging → GIS dashboard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484632" y="6190488"/>
            <a:ext cx="219456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90" b="1" i="0">
                <a:solidFill>
                  <a:srgbClr val="56636F"/>
                </a:solidFill>
                <a:latin typeface="Aptos"/>
              </a:rPr>
              <a:t>GHOSTNET-AI  •  SIH26057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